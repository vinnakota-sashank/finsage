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 Slab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Slab-bold.fntdata"/><Relationship Id="rId16" Type="http://schemas.openxmlformats.org/officeDocument/2006/relationships/font" Target="fonts/RobotoSlab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b31072225_0_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2b31072225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2b31072225_0_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2b31072225_0_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2b31072225_0_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2b31072225_0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2b31072225_0_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2b31072225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b31072225_0_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b31072225_0_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2f02e721f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2f02e721f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2b31072225_0_7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2b31072225_0_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2b31072225_0_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2b31072225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2b31072225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2b31072225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700185" y="1991850"/>
            <a:ext cx="58074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7337531" y="4630074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790243" y="4182401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893253" y="3333348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771302" y="4923775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386266" y="508134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479460" y="2703980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261540" y="643097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507235" y="1080863"/>
            <a:ext cx="192600" cy="1923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8314019" y="3625322"/>
            <a:ext cx="144300" cy="1440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8882858" y="4186761"/>
            <a:ext cx="144300" cy="1440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158313" y="1596559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396483" y="226428"/>
            <a:ext cx="192600" cy="1923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617492" y="2000594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3425273" y="387880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8014029" y="4567546"/>
            <a:ext cx="192600" cy="1923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9pPr>
          </a:lstStyle>
          <a:p/>
        </p:txBody>
      </p:sp>
      <p:sp>
        <p:nvSpPr>
          <p:cNvPr id="28" name="Google Shape;28;p3"/>
          <p:cNvSpPr txBox="1"/>
          <p:nvPr>
            <p:ph idx="1" type="subTitle"/>
          </p:nvPr>
        </p:nvSpPr>
        <p:spPr>
          <a:xfrm>
            <a:off x="1546025" y="3011511"/>
            <a:ext cx="58326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"/>
          <p:cNvPicPr preferRelativeResize="0"/>
          <p:nvPr/>
        </p:nvPicPr>
        <p:blipFill rotWithShape="1">
          <a:blip r:embed="rId2">
            <a:alphaModFix/>
          </a:blip>
          <a:srcRect b="0" l="19" r="19" t="0"/>
          <a:stretch/>
        </p:blipFill>
        <p:spPr>
          <a:xfrm flipH="1" rot="10800000">
            <a:off x="5952" y="0"/>
            <a:ext cx="91406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/>
          <p:nvPr>
            <p:ph idx="1" type="body"/>
          </p:nvPr>
        </p:nvSpPr>
        <p:spPr>
          <a:xfrm>
            <a:off x="1215300" y="1723650"/>
            <a:ext cx="6713400" cy="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57200" lvl="0" marL="45720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600"/>
              <a:buChar char="◎"/>
              <a:defRPr i="1" sz="3600"/>
            </a:lvl1pPr>
            <a:lvl2pPr indent="-45720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  <a:defRPr i="1" sz="3600"/>
            </a:lvl2pPr>
            <a:lvl3pPr indent="-45720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◉"/>
              <a:defRPr i="1" sz="3600"/>
            </a:lvl3pPr>
            <a:lvl4pPr indent="-457200" lvl="3" marL="18288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i="1" sz="3600"/>
            </a:lvl4pPr>
            <a:lvl5pPr indent="-457200" lvl="4" marL="228600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i="1" sz="3600"/>
            </a:lvl5pPr>
            <a:lvl6pPr indent="-457200" lvl="5" marL="274320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i="1" sz="3600"/>
            </a:lvl6pPr>
            <a:lvl7pPr indent="-457200" lvl="6" marL="32004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i="1" sz="3600"/>
            </a:lvl7pPr>
            <a:lvl8pPr indent="-457200" lvl="7" marL="365760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i="1" sz="3600"/>
            </a:lvl8pPr>
            <a:lvl9pPr indent="-457200" lvl="8" marL="411480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i="1" sz="3600"/>
            </a:lvl9pPr>
          </a:lstStyle>
          <a:p/>
        </p:txBody>
      </p:sp>
      <p:grpSp>
        <p:nvGrpSpPr>
          <p:cNvPr id="32" name="Google Shape;32;p4"/>
          <p:cNvGrpSpPr/>
          <p:nvPr/>
        </p:nvGrpSpPr>
        <p:grpSpPr>
          <a:xfrm>
            <a:off x="3839646" y="782918"/>
            <a:ext cx="1464573" cy="842707"/>
            <a:chOff x="3593400" y="1729675"/>
            <a:chExt cx="1957200" cy="1123610"/>
          </a:xfrm>
        </p:grpSpPr>
        <p:sp>
          <p:nvSpPr>
            <p:cNvPr id="33" name="Google Shape;33;p4"/>
            <p:cNvSpPr txBox="1"/>
            <p:nvPr/>
          </p:nvSpPr>
          <p:spPr>
            <a:xfrm>
              <a:off x="3593400" y="1729675"/>
              <a:ext cx="1957200" cy="8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00">
                  <a:solidFill>
                    <a:schemeClr val="accent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“</a:t>
              </a:r>
              <a:endParaRPr b="1" sz="60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4025400" y="1760085"/>
              <a:ext cx="1093200" cy="1093200"/>
            </a:xfrm>
            <a:prstGeom prst="ellipse">
              <a:avLst/>
            </a:prstGeom>
            <a:noFill/>
            <a:ln cap="flat" cmpd="sng" w="9525">
              <a:solidFill>
                <a:srgbClr val="CFD8DC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4190700" y="1925385"/>
              <a:ext cx="762600" cy="762600"/>
            </a:xfrm>
            <a:prstGeom prst="ellipse">
              <a:avLst/>
            </a:prstGeom>
            <a:noFill/>
            <a:ln cap="flat" cmpd="sng" w="19050">
              <a:solidFill>
                <a:srgbClr val="CFD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6" name="Google Shape;36;p4"/>
          <p:cNvCxnSpPr>
            <a:endCxn id="34" idx="1"/>
          </p:cNvCxnSpPr>
          <p:nvPr/>
        </p:nvCxnSpPr>
        <p:spPr>
          <a:xfrm>
            <a:off x="3750511" y="390297"/>
            <a:ext cx="532200" cy="5355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" name="Google Shape;37;p4"/>
          <p:cNvCxnSpPr/>
          <p:nvPr/>
        </p:nvCxnSpPr>
        <p:spPr>
          <a:xfrm rot="10800000">
            <a:off x="4362902" y="436125"/>
            <a:ext cx="209100" cy="3696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" name="Google Shape;38;p4"/>
          <p:cNvCxnSpPr/>
          <p:nvPr/>
        </p:nvCxnSpPr>
        <p:spPr>
          <a:xfrm flipH="1" rot="10800000">
            <a:off x="4704510" y="351930"/>
            <a:ext cx="347100" cy="4746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-87" y="4749844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" type="body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◎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◉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786137" y="1200150"/>
            <a:ext cx="36753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4682659" y="1200150"/>
            <a:ext cx="36753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" type="body"/>
          </p:nvPr>
        </p:nvSpPr>
        <p:spPr>
          <a:xfrm>
            <a:off x="786150" y="1200150"/>
            <a:ext cx="24198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2" type="body"/>
          </p:nvPr>
        </p:nvSpPr>
        <p:spPr>
          <a:xfrm>
            <a:off x="3329992" y="1200150"/>
            <a:ext cx="24198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3" type="body"/>
          </p:nvPr>
        </p:nvSpPr>
        <p:spPr>
          <a:xfrm>
            <a:off x="5873834" y="1200150"/>
            <a:ext cx="24198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" type="body"/>
          </p:nvPr>
        </p:nvSpPr>
        <p:spPr>
          <a:xfrm>
            <a:off x="457200" y="4055343"/>
            <a:ext cx="8229600" cy="3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-92" y="4749844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mplete pattern">
  <p:cSld name="BLANK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>
            <a:off x="-26550" y="-14850"/>
            <a:ext cx="9197100" cy="5173200"/>
          </a:xfrm>
          <a:prstGeom prst="rect">
            <a:avLst/>
          </a:prstGeom>
          <a:solidFill>
            <a:srgbClr val="CFD8DC">
              <a:alpha val="49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8" name="Google Shape;68;p1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9" name="Google Shape;6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/>
        </p:nvSpPr>
        <p:spPr>
          <a:xfrm>
            <a:off x="322275" y="81550"/>
            <a:ext cx="85227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1531675" y="460613"/>
            <a:ext cx="70692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VNR DESIGN-A-TH</a:t>
            </a:r>
            <a:r>
              <a:rPr lang="en" sz="32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ON 2026</a:t>
            </a:r>
            <a:endParaRPr sz="3200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1852750" y="1342275"/>
            <a:ext cx="60630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[Add your title name]</a:t>
            </a:r>
            <a:endParaRPr sz="2000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916050" y="2297775"/>
            <a:ext cx="73119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Team Name : [add your team name]</a:t>
            </a:r>
            <a:endParaRPr sz="2000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8" name="Google Shape;78;p13"/>
          <p:cNvSpPr txBox="1"/>
          <p:nvPr>
            <p:ph idx="4294967295" type="body"/>
          </p:nvPr>
        </p:nvSpPr>
        <p:spPr>
          <a:xfrm>
            <a:off x="916050" y="2644850"/>
            <a:ext cx="7571700" cy="15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Team Members :</a:t>
            </a:r>
            <a:endParaRPr sz="2000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Char char="◎"/>
            </a:pPr>
            <a:r>
              <a:rPr lang="en"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Member 1</a:t>
            </a:r>
            <a:endParaRPr sz="2000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Char char="◎"/>
            </a:pPr>
            <a:r>
              <a:rPr lang="en"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Member</a:t>
            </a:r>
            <a:r>
              <a:rPr lang="en"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 2</a:t>
            </a:r>
            <a:endParaRPr sz="2000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Char char="◎"/>
            </a:pPr>
            <a:r>
              <a:rPr lang="en"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Member 3</a:t>
            </a:r>
            <a:endParaRPr sz="2000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79" name="Google Shape;79;p13"/>
          <p:cNvPicPr preferRelativeResize="0"/>
          <p:nvPr/>
        </p:nvPicPr>
        <p:blipFill rotWithShape="1">
          <a:blip r:embed="rId3">
            <a:alphaModFix/>
          </a:blip>
          <a:srcRect b="27082" l="0" r="0" t="20021"/>
          <a:stretch/>
        </p:blipFill>
        <p:spPr>
          <a:xfrm>
            <a:off x="916050" y="273089"/>
            <a:ext cx="1090826" cy="1025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type="title"/>
          </p:nvPr>
        </p:nvSpPr>
        <p:spPr>
          <a:xfrm>
            <a:off x="595650" y="3353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85" name="Google Shape;85;p14"/>
          <p:cNvSpPr txBox="1"/>
          <p:nvPr>
            <p:ph idx="1" type="body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◎"/>
            </a:pPr>
            <a:r>
              <a:rPr lang="en" sz="2000"/>
              <a:t>Abstract</a:t>
            </a:r>
            <a:endParaRPr sz="2000"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◎"/>
            </a:pPr>
            <a:r>
              <a:rPr lang="en" sz="2000"/>
              <a:t>Introduction</a:t>
            </a:r>
            <a:endParaRPr sz="2000"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◎"/>
            </a:pPr>
            <a:r>
              <a:rPr lang="en" sz="2000"/>
              <a:t>Problem statement</a:t>
            </a:r>
            <a:endParaRPr sz="2000"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◎"/>
            </a:pPr>
            <a:r>
              <a:rPr lang="en" sz="2000"/>
              <a:t>Technical details</a:t>
            </a:r>
            <a:endParaRPr sz="2000"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◎"/>
            </a:pPr>
            <a:r>
              <a:rPr lang="en" sz="2000"/>
              <a:t>System Design</a:t>
            </a:r>
            <a:endParaRPr sz="2000"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◎"/>
            </a:pPr>
            <a:r>
              <a:rPr lang="en" sz="2000"/>
              <a:t>Conclusion</a:t>
            </a:r>
            <a:endParaRPr sz="2000"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◎"/>
            </a:pPr>
            <a:r>
              <a:rPr lang="en" sz="2000"/>
              <a:t>R</a:t>
            </a:r>
            <a:r>
              <a:rPr lang="en" sz="2000"/>
              <a:t>eferences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</a:t>
            </a:r>
            <a:endParaRPr/>
          </a:p>
        </p:txBody>
      </p:sp>
      <p:sp>
        <p:nvSpPr>
          <p:cNvPr id="91" name="Google Shape;91;p15"/>
          <p:cNvSpPr txBox="1"/>
          <p:nvPr>
            <p:ph idx="1" type="body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Add a brief summary of your project.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It will be in a short paragraph.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It can include purpose, methodology, results and conclusion of your project in brief.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</a:t>
            </a:r>
            <a:endParaRPr/>
          </a:p>
        </p:txBody>
      </p:sp>
      <p:sp>
        <p:nvSpPr>
          <p:cNvPr id="97" name="Google Shape;97;p16"/>
          <p:cNvSpPr txBox="1"/>
          <p:nvPr>
            <p:ph idx="1" type="body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Briefly introduce your project.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Can begin with an interesting fact, quote or a question.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Provide context leading to the research problem(why your project is needed).</a:t>
            </a:r>
            <a:endParaRPr sz="16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103" name="Google Shape;103;p17"/>
          <p:cNvSpPr txBox="1"/>
          <p:nvPr>
            <p:ph idx="1" type="body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Define the problem you are solving.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Explain contest and background(share relevant statistics or examples).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Mention target users(who are facing this problem?).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Mention the existing solutions(if any) and their drawbacks.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786150" y="516325"/>
            <a:ext cx="2321700" cy="49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Details</a:t>
            </a:r>
            <a:endParaRPr/>
          </a:p>
        </p:txBody>
      </p:sp>
      <p:sp>
        <p:nvSpPr>
          <p:cNvPr id="109" name="Google Shape;109;p18"/>
          <p:cNvSpPr txBox="1"/>
          <p:nvPr>
            <p:ph type="title"/>
          </p:nvPr>
        </p:nvSpPr>
        <p:spPr>
          <a:xfrm>
            <a:off x="4870650" y="516325"/>
            <a:ext cx="2321700" cy="49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System Design</a:t>
            </a:r>
            <a:endParaRPr/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856350" y="1010725"/>
            <a:ext cx="3715500" cy="3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List all the technologies, frameworks, tools used.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List any APIs that might be used.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Databases and the data storage.</a:t>
            </a:r>
            <a:br>
              <a:rPr lang="en" sz="1600"/>
            </a:br>
            <a:endParaRPr sz="16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4870650" y="1010725"/>
            <a:ext cx="3632400" cy="3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Explain the architecture / flow of the system.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Explain the high level working process of your solution.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If applicable include the diagrams, flowcharts, algorithms etc.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Scalability </a:t>
            </a:r>
            <a:endParaRPr sz="16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2" name="Google Shape;112;p18"/>
          <p:cNvSpPr txBox="1"/>
          <p:nvPr/>
        </p:nvSpPr>
        <p:spPr>
          <a:xfrm>
            <a:off x="2470050" y="3721850"/>
            <a:ext cx="42039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If you have a prototype you can submit your link here.</a:t>
            </a:r>
            <a:endParaRPr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Prospect</a:t>
            </a:r>
            <a:endParaRPr/>
          </a:p>
        </p:txBody>
      </p:sp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786150" y="1119950"/>
            <a:ext cx="7882200" cy="3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How the proposed solutions align with current market trends.</a:t>
            </a:r>
            <a:endParaRPr sz="1600"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Why this problem needs to be solved and its impact.</a:t>
            </a:r>
            <a:endParaRPr sz="1600"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Who will benefit (startups, enterprises, consumers, etc.).</a:t>
            </a:r>
            <a:endParaRPr sz="1600"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Monetization Strategies such as </a:t>
            </a:r>
            <a:r>
              <a:rPr lang="en" sz="1600"/>
              <a:t>Subscription, freemium, B2B/B2C sales, etc.</a:t>
            </a:r>
            <a:endParaRPr sz="1600"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How the solution can generate income.</a:t>
            </a:r>
            <a:endParaRPr sz="1600"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What makes this approach unique (USP)?</a:t>
            </a:r>
            <a:endParaRPr sz="1600"/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Industries or companies that might adopt the solution.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</a:t>
            </a:r>
            <a:endParaRPr/>
          </a:p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Summarise your solution.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Explain its impact and key takeaways.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Mention how it will benefit the users or industries or society etc.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Mention future scope(future improvements and applications that can be done)(if applicable).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Share the final thoughts of the solution(can include some facts relevant to the solution).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 </a:t>
            </a:r>
            <a:endParaRPr/>
          </a:p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Mention all the papers, books, websites or any other sources that you have referred to build the solution.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Do not add this slide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1116442" y="1010730"/>
            <a:ext cx="7571700" cy="3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All the subheadings in the agenda must be covered.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Mention all the team details clearly.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Any number of slides can be added under each subheading. There is no restriction for that.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The order of all the subheadings must be maintained as per the agenda.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n" sz="1600"/>
              <a:t>Make a copy of this ppt and edit accordingly, use the same template. 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delia template">
  <a:themeElements>
    <a:clrScheme name="Custom 347">
      <a:dk1>
        <a:srgbClr val="263238"/>
      </a:dk1>
      <a:lt1>
        <a:srgbClr val="FFFFFF"/>
      </a:lt1>
      <a:dk2>
        <a:srgbClr val="607D8B"/>
      </a:dk2>
      <a:lt2>
        <a:srgbClr val="ECEFF1"/>
      </a:lt2>
      <a:accent1>
        <a:srgbClr val="0091EA"/>
      </a:accent1>
      <a:accent2>
        <a:srgbClr val="0053A3"/>
      </a:accent2>
      <a:accent3>
        <a:srgbClr val="607D8B"/>
      </a:accent3>
      <a:accent4>
        <a:srgbClr val="CFD8DC"/>
      </a:accent4>
      <a:accent5>
        <a:srgbClr val="ECEFF1"/>
      </a:accent5>
      <a:accent6>
        <a:srgbClr val="ACDBF8"/>
      </a:accent6>
      <a:hlink>
        <a:srgbClr val="0091EA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