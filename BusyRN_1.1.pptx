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6" r:id="rId7"/>
    <p:sldId id="261" r:id="rId8"/>
    <p:sldId id="267" r:id="rId9"/>
    <p:sldId id="268" r:id="rId10"/>
    <p:sldId id="269" r:id="rId11"/>
    <p:sldId id="262" r:id="rId12"/>
    <p:sldId id="270" r:id="rId13"/>
    <p:sldId id="263" r:id="rId14"/>
    <p:sldId id="264" r:id="rId15"/>
  </p:sldIdLst>
  <p:sldSz cx="9144000" cy="5143500" type="screen16x9"/>
  <p:notesSz cx="6858000" cy="9144000"/>
  <p:embeddedFontLst>
    <p:embeddedFont>
      <p:font typeface="Roboto Slab" pitchFamily="2" charset="0"/>
      <p:regular r:id="rId17"/>
      <p:bold r:id="rId18"/>
    </p:embeddedFont>
    <p:embeddedFont>
      <p:font typeface="Sitka Subheading Semibold" pitchFamily="2" charset="0"/>
      <p:bold r:id="rId19"/>
      <p:boldItalic r:id="rId20"/>
    </p:embeddedFont>
    <p:embeddedFont>
      <p:font typeface="Source Sans Pro" panose="020B0503030403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72" name="Google Shape;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2b31072225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2" name="Google Shape;82;g32b31072225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2b31072225_0_6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8" name="Google Shape;88;g32b31072225_0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2b31072225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4" name="Google Shape;94;g32b31072225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2b31072225_0_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0" name="Google Shape;100;g32b31072225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b31072225_0_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6" name="Google Shape;106;g32b31072225_0_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f02e721f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5" name="Google Shape;115;g32f02e721f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b31072225_0_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1" name="Google Shape;121;g32b31072225_0_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b31072225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7" name="Google Shape;127;g32b31072225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00185" y="1991850"/>
            <a:ext cx="5807400" cy="11598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5800" b="1"/>
            </a:lvl1pPr>
            <a:lvl2pPr lvl="1">
              <a:spcBef>
                <a:spcPts val="0"/>
              </a:spcBef>
              <a:spcAft>
                <a:spcPts val="0"/>
              </a:spcAft>
              <a:buSzPts val="5800"/>
              <a:buNone/>
              <a:defRPr sz="5800" b="1"/>
            </a:lvl2pPr>
            <a:lvl3pPr lvl="2">
              <a:spcBef>
                <a:spcPts val="0"/>
              </a:spcBef>
              <a:spcAft>
                <a:spcPts val="0"/>
              </a:spcAft>
              <a:buSzPts val="5800"/>
              <a:buNone/>
              <a:defRPr sz="5800" b="1"/>
            </a:lvl3pPr>
            <a:lvl4pPr lvl="3">
              <a:spcBef>
                <a:spcPts val="0"/>
              </a:spcBef>
              <a:spcAft>
                <a:spcPts val="0"/>
              </a:spcAft>
              <a:buSzPts val="5800"/>
              <a:buNone/>
              <a:defRPr sz="5800" b="1"/>
            </a:lvl4pPr>
            <a:lvl5pPr lvl="4">
              <a:spcBef>
                <a:spcPts val="0"/>
              </a:spcBef>
              <a:spcAft>
                <a:spcPts val="0"/>
              </a:spcAft>
              <a:buSzPts val="5800"/>
              <a:buNone/>
              <a:defRPr sz="5800" b="1"/>
            </a:lvl5pPr>
            <a:lvl6pPr lvl="5">
              <a:spcBef>
                <a:spcPts val="0"/>
              </a:spcBef>
              <a:spcAft>
                <a:spcPts val="0"/>
              </a:spcAft>
              <a:buSzPts val="5800"/>
              <a:buNone/>
              <a:defRPr sz="5800" b="1"/>
            </a:lvl6pPr>
            <a:lvl7pPr lvl="6">
              <a:spcBef>
                <a:spcPts val="0"/>
              </a:spcBef>
              <a:spcAft>
                <a:spcPts val="0"/>
              </a:spcAft>
              <a:buSzPts val="5800"/>
              <a:buNone/>
              <a:defRPr sz="5800" b="1"/>
            </a:lvl7pPr>
            <a:lvl8pPr lvl="7">
              <a:spcBef>
                <a:spcPts val="0"/>
              </a:spcBef>
              <a:spcAft>
                <a:spcPts val="0"/>
              </a:spcAft>
              <a:buSzPts val="5800"/>
              <a:buNone/>
              <a:defRPr sz="5800" b="1"/>
            </a:lvl8pPr>
            <a:lvl9pPr lvl="8">
              <a:spcBef>
                <a:spcPts val="0"/>
              </a:spcBef>
              <a:spcAft>
                <a:spcPts val="0"/>
              </a:spcAft>
              <a:buSzPts val="5800"/>
              <a:buNone/>
              <a:defRPr sz="5800" b="1"/>
            </a:lvl9pPr>
          </a:lstStyle>
          <a:p>
            <a:endParaRPr/>
          </a:p>
        </p:txBody>
      </p:sp>
      <p:sp>
        <p:nvSpPr>
          <p:cNvPr id="11" name="Google Shape;11;p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1546025" y="1754794"/>
            <a:ext cx="5832600" cy="11598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sz="4400" b="1"/>
            </a:lvl1pPr>
            <a:lvl2pPr lvl="1">
              <a:spcBef>
                <a:spcPts val="0"/>
              </a:spcBef>
              <a:spcAft>
                <a:spcPts val="0"/>
              </a:spcAft>
              <a:buSzPts val="4400"/>
              <a:buNone/>
              <a:defRPr sz="4400" b="1"/>
            </a:lvl2pPr>
            <a:lvl3pPr lvl="2">
              <a:spcBef>
                <a:spcPts val="0"/>
              </a:spcBef>
              <a:spcAft>
                <a:spcPts val="0"/>
              </a:spcAft>
              <a:buSzPts val="4400"/>
              <a:buNone/>
              <a:defRPr sz="4400" b="1"/>
            </a:lvl3pPr>
            <a:lvl4pPr lvl="3">
              <a:spcBef>
                <a:spcPts val="0"/>
              </a:spcBef>
              <a:spcAft>
                <a:spcPts val="0"/>
              </a:spcAft>
              <a:buSzPts val="4400"/>
              <a:buNone/>
              <a:defRPr sz="4400" b="1"/>
            </a:lvl4pPr>
            <a:lvl5pPr lvl="4">
              <a:spcBef>
                <a:spcPts val="0"/>
              </a:spcBef>
              <a:spcAft>
                <a:spcPts val="0"/>
              </a:spcAft>
              <a:buSzPts val="4400"/>
              <a:buNone/>
              <a:defRPr sz="4400" b="1"/>
            </a:lvl5pPr>
            <a:lvl6pPr lvl="5">
              <a:spcBef>
                <a:spcPts val="0"/>
              </a:spcBef>
              <a:spcAft>
                <a:spcPts val="0"/>
              </a:spcAft>
              <a:buSzPts val="4400"/>
              <a:buNone/>
              <a:defRPr sz="4400" b="1"/>
            </a:lvl6pPr>
            <a:lvl7pPr lvl="6">
              <a:spcBef>
                <a:spcPts val="0"/>
              </a:spcBef>
              <a:spcAft>
                <a:spcPts val="0"/>
              </a:spcAft>
              <a:buSzPts val="4400"/>
              <a:buNone/>
              <a:defRPr sz="4400" b="1"/>
            </a:lvl7pPr>
            <a:lvl8pPr lvl="7">
              <a:spcBef>
                <a:spcPts val="0"/>
              </a:spcBef>
              <a:spcAft>
                <a:spcPts val="0"/>
              </a:spcAft>
              <a:buSzPts val="4400"/>
              <a:buNone/>
              <a:defRPr sz="4400" b="1"/>
            </a:lvl8pPr>
            <a:lvl9pPr lvl="8">
              <a:spcBef>
                <a:spcPts val="0"/>
              </a:spcBef>
              <a:spcAft>
                <a:spcPts val="0"/>
              </a:spcAft>
              <a:buSzPts val="4400"/>
              <a:buNone/>
              <a:defRPr sz="4400" b="1"/>
            </a:lvl9pPr>
          </a:lstStyle>
          <a:p>
            <a:endParaRPr/>
          </a:p>
        </p:txBody>
      </p:sp>
      <p:sp>
        <p:nvSpPr>
          <p:cNvPr id="28" name="Google Shape;28;p3"/>
          <p:cNvSpPr txBox="1">
            <a:spLocks noGrp="1"/>
          </p:cNvSpPr>
          <p:nvPr>
            <p:ph type="subTitle" idx="1"/>
          </p:nvPr>
        </p:nvSpPr>
        <p:spPr>
          <a:xfrm>
            <a:off x="1546025" y="3011511"/>
            <a:ext cx="5832600" cy="784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3000"/>
              <a:buNone/>
              <a:defRPr>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l="19" r="19"/>
          <a:stretch/>
        </p:blipFill>
        <p:spPr>
          <a:xfrm rot="10800000" flipH="1">
            <a:off x="5952" y="0"/>
            <a:ext cx="9140602" cy="5143500"/>
          </a:xfrm>
          <a:prstGeom prst="rect">
            <a:avLst/>
          </a:prstGeom>
          <a:noFill/>
          <a:ln>
            <a:noFill/>
          </a:ln>
        </p:spPr>
      </p:pic>
      <p:sp>
        <p:nvSpPr>
          <p:cNvPr id="31" name="Google Shape;31;p4"/>
          <p:cNvSpPr txBox="1">
            <a:spLocks noGrp="1"/>
          </p:cNvSpPr>
          <p:nvPr>
            <p:ph type="body" idx="1"/>
          </p:nvPr>
        </p:nvSpPr>
        <p:spPr>
          <a:xfrm>
            <a:off x="1215300" y="1723650"/>
            <a:ext cx="6713400" cy="819900"/>
          </a:xfrm>
          <a:prstGeom prst="rect">
            <a:avLst/>
          </a:prstGeom>
        </p:spPr>
        <p:txBody>
          <a:bodyPr spcFirstLastPara="1" wrap="square" lIns="91425" tIns="91425" rIns="91425" bIns="91425" anchor="t" anchorCtr="0">
            <a:noAutofit/>
          </a:bodyPr>
          <a:lstStyle>
            <a:lvl1pPr marL="457200" lvl="0" indent="-457200" algn="ctr">
              <a:spcBef>
                <a:spcPts val="600"/>
              </a:spcBef>
              <a:spcAft>
                <a:spcPts val="0"/>
              </a:spcAft>
              <a:buClr>
                <a:schemeClr val="dk1"/>
              </a:buClr>
              <a:buSzPts val="3600"/>
              <a:buChar char="◎"/>
              <a:defRPr sz="3600" i="1"/>
            </a:lvl1pPr>
            <a:lvl2pPr marL="914400" lvl="1" indent="-457200" algn="ctr">
              <a:spcBef>
                <a:spcPts val="0"/>
              </a:spcBef>
              <a:spcAft>
                <a:spcPts val="0"/>
              </a:spcAft>
              <a:buClr>
                <a:schemeClr val="dk1"/>
              </a:buClr>
              <a:buSzPts val="3600"/>
              <a:buChar char="○"/>
              <a:defRPr sz="3600" i="1"/>
            </a:lvl2pPr>
            <a:lvl3pPr marL="1371600" lvl="2" indent="-457200" algn="ctr">
              <a:spcBef>
                <a:spcPts val="0"/>
              </a:spcBef>
              <a:spcAft>
                <a:spcPts val="0"/>
              </a:spcAft>
              <a:buClr>
                <a:schemeClr val="dk1"/>
              </a:buClr>
              <a:buSzPts val="3600"/>
              <a:buChar char="◉"/>
              <a:defRPr sz="3600" i="1"/>
            </a:lvl3pPr>
            <a:lvl4pPr marL="1828800" lvl="3" indent="-457200" algn="ctr">
              <a:spcBef>
                <a:spcPts val="0"/>
              </a:spcBef>
              <a:spcAft>
                <a:spcPts val="0"/>
              </a:spcAft>
              <a:buSzPts val="3600"/>
              <a:buChar char="●"/>
              <a:defRPr sz="3600" i="1"/>
            </a:lvl4pPr>
            <a:lvl5pPr marL="2286000" lvl="4" indent="-457200" algn="ctr">
              <a:spcBef>
                <a:spcPts val="0"/>
              </a:spcBef>
              <a:spcAft>
                <a:spcPts val="0"/>
              </a:spcAft>
              <a:buSzPts val="3600"/>
              <a:buChar char="○"/>
              <a:defRPr sz="3600" i="1"/>
            </a:lvl5pPr>
            <a:lvl6pPr marL="2743200" lvl="5" indent="-457200" algn="ctr">
              <a:spcBef>
                <a:spcPts val="0"/>
              </a:spcBef>
              <a:spcAft>
                <a:spcPts val="0"/>
              </a:spcAft>
              <a:buSzPts val="3600"/>
              <a:buChar char="■"/>
              <a:defRPr sz="3600" i="1"/>
            </a:lvl6pPr>
            <a:lvl7pPr marL="3200400" lvl="6" indent="-457200" algn="ctr">
              <a:spcBef>
                <a:spcPts val="0"/>
              </a:spcBef>
              <a:spcAft>
                <a:spcPts val="0"/>
              </a:spcAft>
              <a:buSzPts val="3600"/>
              <a:buChar char="●"/>
              <a:defRPr sz="3600" i="1"/>
            </a:lvl7pPr>
            <a:lvl8pPr marL="3657600" lvl="7" indent="-457200" algn="ctr">
              <a:spcBef>
                <a:spcPts val="0"/>
              </a:spcBef>
              <a:spcAft>
                <a:spcPts val="0"/>
              </a:spcAft>
              <a:buSzPts val="3600"/>
              <a:buChar char="○"/>
              <a:defRPr sz="3600" i="1"/>
            </a:lvl8pPr>
            <a:lvl9pPr marL="4114800" lvl="8" indent="-457200" algn="ctr">
              <a:spcBef>
                <a:spcPts val="0"/>
              </a:spcBef>
              <a:spcAft>
                <a:spcPts val="0"/>
              </a:spcAft>
              <a:buSzPts val="3600"/>
              <a:buChar char="■"/>
              <a:defRPr sz="3600" i="1"/>
            </a:lvl9pPr>
          </a:lstStyle>
          <a:p>
            <a:endParaRPr/>
          </a:p>
        </p:txBody>
      </p:sp>
      <p:grpSp>
        <p:nvGrpSpPr>
          <p:cNvPr id="32" name="Google Shape;32;p4"/>
          <p:cNvGrpSpPr/>
          <p:nvPr/>
        </p:nvGrpSpPr>
        <p:grpSpPr>
          <a:xfrm>
            <a:off x="3839646" y="782918"/>
            <a:ext cx="1464573" cy="842707"/>
            <a:chOff x="3593400" y="1729675"/>
            <a:chExt cx="1957200" cy="1123610"/>
          </a:xfrm>
        </p:grpSpPr>
        <p:sp>
          <p:nvSpPr>
            <p:cNvPr id="33" name="Google Shape;33;p4"/>
            <p:cNvSpPr txBox="1"/>
            <p:nvPr/>
          </p:nvSpPr>
          <p:spPr>
            <a:xfrm>
              <a:off x="3593400" y="1729675"/>
              <a:ext cx="1957200" cy="87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6000" b="1">
                  <a:solidFill>
                    <a:schemeClr val="accent1"/>
                  </a:solidFill>
                  <a:latin typeface="Source Sans Pro"/>
                  <a:ea typeface="Source Sans Pro"/>
                  <a:cs typeface="Source Sans Pro"/>
                  <a:sym typeface="Source Sans Pro"/>
                </a:rPr>
                <a:t>“</a:t>
              </a:r>
              <a:endParaRPr sz="6000" b="1">
                <a:solidFill>
                  <a:schemeClr val="accent1"/>
                </a:solidFill>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6" name="Google Shape;36;p4"/>
          <p:cNvCxnSpPr>
            <a:endCxn id="34" idx="1"/>
          </p:cNvCxnSpPr>
          <p:nvPr/>
        </p:nvCxnSpPr>
        <p:spPr>
          <a:xfrm>
            <a:off x="3750511" y="390297"/>
            <a:ext cx="532200" cy="535500"/>
          </a:xfrm>
          <a:prstGeom prst="straightConnector1">
            <a:avLst/>
          </a:prstGeom>
          <a:noFill/>
          <a:ln w="9525" cap="flat" cmpd="sng">
            <a:solidFill>
              <a:srgbClr val="CFD8DC"/>
            </a:solidFill>
            <a:prstDash val="solid"/>
            <a:round/>
            <a:headEnd type="none" w="med" len="med"/>
            <a:tailEnd type="none" w="med" len="med"/>
          </a:ln>
        </p:spPr>
      </p:cxnSp>
      <p:cxnSp>
        <p:nvCxnSpPr>
          <p:cNvPr id="37" name="Google Shape;37;p4"/>
          <p:cNvCxnSpPr/>
          <p:nvPr/>
        </p:nvCxnSpPr>
        <p:spPr>
          <a:xfrm rot="10800000">
            <a:off x="4362902" y="436125"/>
            <a:ext cx="209100" cy="369600"/>
          </a:xfrm>
          <a:prstGeom prst="straightConnector1">
            <a:avLst/>
          </a:prstGeom>
          <a:noFill/>
          <a:ln w="9525" cap="flat" cmpd="sng">
            <a:solidFill>
              <a:srgbClr val="CFD8DC"/>
            </a:solidFill>
            <a:prstDash val="solid"/>
            <a:round/>
            <a:headEnd type="none" w="med" len="med"/>
            <a:tailEnd type="none" w="med" len="med"/>
          </a:ln>
        </p:spPr>
      </p:cxnSp>
      <p:cxnSp>
        <p:nvCxnSpPr>
          <p:cNvPr id="38" name="Google Shape;38;p4"/>
          <p:cNvCxnSpPr/>
          <p:nvPr/>
        </p:nvCxnSpPr>
        <p:spPr>
          <a:xfrm rot="10800000" flipH="1">
            <a:off x="4704510" y="351930"/>
            <a:ext cx="347100" cy="474600"/>
          </a:xfrm>
          <a:prstGeom prst="straightConnector1">
            <a:avLst/>
          </a:prstGeom>
          <a:noFill/>
          <a:ln w="9525" cap="flat" cmpd="sng">
            <a:solidFill>
              <a:srgbClr val="CFD8DC"/>
            </a:solidFill>
            <a:prstDash val="solid"/>
            <a:round/>
            <a:headEnd type="none" w="med" len="med"/>
            <a:tailEnd type="none" w="med" len="med"/>
          </a:ln>
        </p:spPr>
      </p:cxnSp>
      <p:sp>
        <p:nvSpPr>
          <p:cNvPr id="39" name="Google Shape;39;p4"/>
          <p:cNvSpPr txBox="1">
            <a:spLocks noGrp="1"/>
          </p:cNvSpPr>
          <p:nvPr>
            <p:ph type="sldNum" idx="12"/>
          </p:nvPr>
        </p:nvSpPr>
        <p:spPr>
          <a:xfrm>
            <a:off x="-87"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3" name="Google Shape;43;p5"/>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6" name="Google Shape;46;p6"/>
          <p:cNvSpPr txBox="1">
            <a:spLocks noGrp="1"/>
          </p:cNvSpPr>
          <p:nvPr>
            <p:ph type="body" idx="1"/>
          </p:nvPr>
        </p:nvSpPr>
        <p:spPr>
          <a:xfrm>
            <a:off x="786137"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7" name="Google Shape;47;p6"/>
          <p:cNvSpPr txBox="1">
            <a:spLocks noGrp="1"/>
          </p:cNvSpPr>
          <p:nvPr>
            <p:ph type="body" idx="2"/>
          </p:nvPr>
        </p:nvSpPr>
        <p:spPr>
          <a:xfrm>
            <a:off x="4682659" y="1200150"/>
            <a:ext cx="36753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8" name="Google Shape;48;p6"/>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1" name="Google Shape;51;p7"/>
          <p:cNvSpPr txBox="1">
            <a:spLocks noGrp="1"/>
          </p:cNvSpPr>
          <p:nvPr>
            <p:ph type="body" idx="1"/>
          </p:nvPr>
        </p:nvSpPr>
        <p:spPr>
          <a:xfrm>
            <a:off x="786150"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2" name="Google Shape;52;p7"/>
          <p:cNvSpPr txBox="1">
            <a:spLocks noGrp="1"/>
          </p:cNvSpPr>
          <p:nvPr>
            <p:ph type="body" idx="2"/>
          </p:nvPr>
        </p:nvSpPr>
        <p:spPr>
          <a:xfrm>
            <a:off x="3329992"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3" name="Google Shape;53;p7"/>
          <p:cNvSpPr txBox="1">
            <a:spLocks noGrp="1"/>
          </p:cNvSpPr>
          <p:nvPr>
            <p:ph type="body" idx="3"/>
          </p:nvPr>
        </p:nvSpPr>
        <p:spPr>
          <a:xfrm>
            <a:off x="5873834" y="1200150"/>
            <a:ext cx="2419800" cy="37257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54" name="Google Shape;54;p7"/>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 name="Google Shape;57;p8"/>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457200" y="4055343"/>
            <a:ext cx="8229600" cy="36870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
        <p:nvSpPr>
          <p:cNvPr id="60" name="Google Shape;60;p9"/>
          <p:cNvSpPr txBox="1">
            <a:spLocks noGrp="1"/>
          </p:cNvSpPr>
          <p:nvPr>
            <p:ph type="sldNum" idx="12"/>
          </p:nvPr>
        </p:nvSpPr>
        <p:spPr>
          <a:xfrm>
            <a:off x="-92" y="4749844"/>
            <a:ext cx="9144000" cy="3936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complete pattern">
  <p:cSld name="BLANK_1">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1"/>
          <p:cNvSpPr/>
          <p:nvPr/>
        </p:nvSpPr>
        <p:spPr>
          <a:xfrm>
            <a:off x="-26550" y="-14850"/>
            <a:ext cx="9197100" cy="5173200"/>
          </a:xfrm>
          <a:prstGeom prst="rect">
            <a:avLst/>
          </a:prstGeom>
          <a:solidFill>
            <a:srgbClr val="CFD8DC">
              <a:alpha val="49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1"/>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6"/>
        <p:cNvGrpSpPr/>
        <p:nvPr/>
      </p:nvGrpSpPr>
      <p:grpSpPr>
        <a:xfrm>
          <a:off x="0" y="0"/>
          <a:ext cx="0" cy="0"/>
          <a:chOff x="0" y="0"/>
          <a:chExt cx="0" cy="0"/>
        </a:xfrm>
      </p:grpSpPr>
      <p:sp>
        <p:nvSpPr>
          <p:cNvPr id="67" name="Google Shape;67;p1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8" name="Google Shape;68;p1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9" name="Google Shape;6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b="1">
                <a:solidFill>
                  <a:schemeClr val="accent1"/>
                </a:solidFill>
                <a:latin typeface="Source Sans Pro"/>
                <a:ea typeface="Source Sans Pro"/>
                <a:cs typeface="Source Sans Pro"/>
                <a:sym typeface="Source Sans Pro"/>
              </a:defRPr>
            </a:lvl1pPr>
            <a:lvl2pPr lvl="1" algn="r">
              <a:buNone/>
              <a:defRPr sz="1300" b="1">
                <a:solidFill>
                  <a:schemeClr val="accent1"/>
                </a:solidFill>
                <a:latin typeface="Source Sans Pro"/>
                <a:ea typeface="Source Sans Pro"/>
                <a:cs typeface="Source Sans Pro"/>
                <a:sym typeface="Source Sans Pro"/>
              </a:defRPr>
            </a:lvl2pPr>
            <a:lvl3pPr lvl="2" algn="r">
              <a:buNone/>
              <a:defRPr sz="1300" b="1">
                <a:solidFill>
                  <a:schemeClr val="accent1"/>
                </a:solidFill>
                <a:latin typeface="Source Sans Pro"/>
                <a:ea typeface="Source Sans Pro"/>
                <a:cs typeface="Source Sans Pro"/>
                <a:sym typeface="Source Sans Pro"/>
              </a:defRPr>
            </a:lvl3pPr>
            <a:lvl4pPr lvl="3" algn="r">
              <a:buNone/>
              <a:defRPr sz="1300" b="1">
                <a:solidFill>
                  <a:schemeClr val="accent1"/>
                </a:solidFill>
                <a:latin typeface="Source Sans Pro"/>
                <a:ea typeface="Source Sans Pro"/>
                <a:cs typeface="Source Sans Pro"/>
                <a:sym typeface="Source Sans Pro"/>
              </a:defRPr>
            </a:lvl4pPr>
            <a:lvl5pPr lvl="4" algn="r">
              <a:buNone/>
              <a:defRPr sz="1300" b="1">
                <a:solidFill>
                  <a:schemeClr val="accent1"/>
                </a:solidFill>
                <a:latin typeface="Source Sans Pro"/>
                <a:ea typeface="Source Sans Pro"/>
                <a:cs typeface="Source Sans Pro"/>
                <a:sym typeface="Source Sans Pro"/>
              </a:defRPr>
            </a:lvl5pPr>
            <a:lvl6pPr lvl="5" algn="r">
              <a:buNone/>
              <a:defRPr sz="1300" b="1">
                <a:solidFill>
                  <a:schemeClr val="accent1"/>
                </a:solidFill>
                <a:latin typeface="Source Sans Pro"/>
                <a:ea typeface="Source Sans Pro"/>
                <a:cs typeface="Source Sans Pro"/>
                <a:sym typeface="Source Sans Pro"/>
              </a:defRPr>
            </a:lvl6pPr>
            <a:lvl7pPr lvl="6" algn="r">
              <a:buNone/>
              <a:defRPr sz="1300" b="1">
                <a:solidFill>
                  <a:schemeClr val="accent1"/>
                </a:solidFill>
                <a:latin typeface="Source Sans Pro"/>
                <a:ea typeface="Source Sans Pro"/>
                <a:cs typeface="Source Sans Pro"/>
                <a:sym typeface="Source Sans Pro"/>
              </a:defRPr>
            </a:lvl7pPr>
            <a:lvl8pPr lvl="7" algn="r">
              <a:buNone/>
              <a:defRPr sz="1300" b="1">
                <a:solidFill>
                  <a:schemeClr val="accent1"/>
                </a:solidFill>
                <a:latin typeface="Source Sans Pro"/>
                <a:ea typeface="Source Sans Pro"/>
                <a:cs typeface="Source Sans Pro"/>
                <a:sym typeface="Source Sans Pro"/>
              </a:defRPr>
            </a:lvl8pPr>
            <a:lvl9pPr lvl="8" algn="r">
              <a:buNone/>
              <a:defRPr sz="1300" b="1">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hyperlink" Target="https://finsage-theta.vercel.app/"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3"/>
          <p:cNvSpPr txBox="1"/>
          <p:nvPr/>
        </p:nvSpPr>
        <p:spPr>
          <a:xfrm>
            <a:off x="322275" y="81550"/>
            <a:ext cx="85227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000">
              <a:solidFill>
                <a:schemeClr val="dk1"/>
              </a:solidFill>
              <a:latin typeface="Source Sans Pro"/>
              <a:ea typeface="Source Sans Pro"/>
              <a:cs typeface="Source Sans Pro"/>
              <a:sym typeface="Source Sans Pro"/>
            </a:endParaRPr>
          </a:p>
        </p:txBody>
      </p:sp>
      <p:sp>
        <p:nvSpPr>
          <p:cNvPr id="75" name="Google Shape;75;p13"/>
          <p:cNvSpPr txBox="1"/>
          <p:nvPr/>
        </p:nvSpPr>
        <p:spPr>
          <a:xfrm>
            <a:off x="1531675" y="460613"/>
            <a:ext cx="7069200" cy="650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solidFill>
                  <a:schemeClr val="accent1"/>
                </a:solidFill>
                <a:latin typeface="Roboto Slab"/>
                <a:ea typeface="Roboto Slab"/>
                <a:cs typeface="Roboto Slab"/>
                <a:sym typeface="Roboto Slab"/>
              </a:rPr>
              <a:t>VNR DESIGN-A-THON 2026</a:t>
            </a:r>
            <a:endParaRPr sz="3200" dirty="0">
              <a:solidFill>
                <a:schemeClr val="accent1"/>
              </a:solidFill>
              <a:latin typeface="Roboto Slab"/>
              <a:ea typeface="Roboto Slab"/>
              <a:cs typeface="Roboto Slab"/>
              <a:sym typeface="Roboto Slab"/>
            </a:endParaRPr>
          </a:p>
          <a:p>
            <a:pPr marL="0" lvl="0" indent="0" algn="ctr" rtl="0">
              <a:spcBef>
                <a:spcPts val="0"/>
              </a:spcBef>
              <a:spcAft>
                <a:spcPts val="0"/>
              </a:spcAft>
              <a:buNone/>
            </a:pPr>
            <a:endParaRPr sz="3200" dirty="0">
              <a:solidFill>
                <a:schemeClr val="accent1"/>
              </a:solidFill>
              <a:latin typeface="Roboto Slab"/>
              <a:ea typeface="Roboto Slab"/>
              <a:cs typeface="Roboto Slab"/>
              <a:sym typeface="Roboto Slab"/>
            </a:endParaRPr>
          </a:p>
        </p:txBody>
      </p:sp>
      <p:sp>
        <p:nvSpPr>
          <p:cNvPr id="76" name="Google Shape;76;p13"/>
          <p:cNvSpPr txBox="1"/>
          <p:nvPr/>
        </p:nvSpPr>
        <p:spPr>
          <a:xfrm>
            <a:off x="1852750" y="1342275"/>
            <a:ext cx="6063000" cy="650700"/>
          </a:xfrm>
          <a:prstGeom prst="rect">
            <a:avLst/>
          </a:prstGeom>
          <a:noFill/>
          <a:ln>
            <a:noFill/>
          </a:ln>
        </p:spPr>
        <p:txBody>
          <a:bodyPr spcFirstLastPara="1" wrap="square" lIns="91425" tIns="91425" rIns="91425" bIns="91425" anchor="t" anchorCtr="0">
            <a:noAutofit/>
          </a:bodyPr>
          <a:lstStyle/>
          <a:p>
            <a:pPr lvl="0" algn="ctr"/>
            <a:r>
              <a:rPr lang="en" sz="2000" dirty="0">
                <a:solidFill>
                  <a:schemeClr val="accent1"/>
                </a:solidFill>
                <a:latin typeface="Roboto Slab"/>
                <a:ea typeface="Roboto Slab"/>
                <a:cs typeface="Roboto Slab"/>
                <a:sym typeface="Roboto Slab"/>
              </a:rPr>
              <a:t>[FinSage : </a:t>
            </a:r>
            <a:r>
              <a:rPr lang="en-IN" sz="2000" dirty="0">
                <a:solidFill>
                  <a:schemeClr val="accent1"/>
                </a:solidFill>
              </a:rPr>
              <a:t>Personal Finance Management System</a:t>
            </a:r>
            <a:r>
              <a:rPr lang="en" sz="2000" dirty="0">
                <a:solidFill>
                  <a:schemeClr val="accent1"/>
                </a:solidFill>
                <a:latin typeface="Roboto Slab"/>
                <a:ea typeface="Roboto Slab"/>
                <a:cs typeface="Roboto Slab"/>
                <a:sym typeface="Roboto Slab"/>
              </a:rPr>
              <a:t>]</a:t>
            </a:r>
            <a:endParaRPr sz="2000" dirty="0">
              <a:solidFill>
                <a:schemeClr val="accent1"/>
              </a:solidFill>
              <a:latin typeface="Roboto Slab"/>
              <a:ea typeface="Roboto Slab"/>
              <a:cs typeface="Roboto Slab"/>
              <a:sym typeface="Roboto Slab"/>
            </a:endParaRPr>
          </a:p>
        </p:txBody>
      </p:sp>
      <p:sp>
        <p:nvSpPr>
          <p:cNvPr id="77" name="Google Shape;77;p13"/>
          <p:cNvSpPr txBox="1"/>
          <p:nvPr/>
        </p:nvSpPr>
        <p:spPr>
          <a:xfrm>
            <a:off x="691375" y="2163959"/>
            <a:ext cx="8177561" cy="82456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accent1"/>
                </a:solidFill>
                <a:latin typeface="Roboto Slab"/>
                <a:ea typeface="Roboto Slab"/>
                <a:cs typeface="Roboto Slab"/>
                <a:sym typeface="Roboto Slab"/>
              </a:rPr>
              <a:t>Team Name : BusyRN</a:t>
            </a:r>
          </a:p>
          <a:p>
            <a:pPr lvl="0"/>
            <a:r>
              <a:rPr lang="en-IN" sz="2000" dirty="0">
                <a:solidFill>
                  <a:schemeClr val="accent1"/>
                </a:solidFill>
              </a:rPr>
              <a:t>Problem Statement : 1.1 - AI-Powered Personal Finance Intelligence System </a:t>
            </a:r>
            <a:endParaRPr lang="en" sz="2000" dirty="0">
              <a:solidFill>
                <a:schemeClr val="accent1"/>
              </a:solidFill>
              <a:latin typeface="Roboto Slab"/>
              <a:ea typeface="Roboto Slab"/>
              <a:cs typeface="Roboto Slab"/>
              <a:sym typeface="Roboto Slab"/>
            </a:endParaRPr>
          </a:p>
          <a:p>
            <a:pPr marL="0" lvl="0" indent="0" algn="l" rtl="0">
              <a:spcBef>
                <a:spcPts val="0"/>
              </a:spcBef>
              <a:spcAft>
                <a:spcPts val="0"/>
              </a:spcAft>
              <a:buNone/>
            </a:pPr>
            <a:endParaRPr sz="2000" dirty="0">
              <a:solidFill>
                <a:schemeClr val="accent1"/>
              </a:solidFill>
              <a:latin typeface="Roboto Slab"/>
              <a:ea typeface="Roboto Slab"/>
              <a:cs typeface="Roboto Slab"/>
              <a:sym typeface="Roboto Slab"/>
            </a:endParaRPr>
          </a:p>
        </p:txBody>
      </p:sp>
      <p:sp>
        <p:nvSpPr>
          <p:cNvPr id="78" name="Google Shape;78;p13"/>
          <p:cNvSpPr txBox="1">
            <a:spLocks noGrp="1"/>
          </p:cNvSpPr>
          <p:nvPr>
            <p:ph type="body" idx="4294967295"/>
          </p:nvPr>
        </p:nvSpPr>
        <p:spPr>
          <a:xfrm>
            <a:off x="752498" y="3395698"/>
            <a:ext cx="7571700" cy="1545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dirty="0">
                <a:solidFill>
                  <a:schemeClr val="accent1"/>
                </a:solidFill>
                <a:latin typeface="Roboto Slab"/>
                <a:ea typeface="Roboto Slab"/>
                <a:cs typeface="Roboto Slab"/>
                <a:sym typeface="Roboto Slab"/>
              </a:rPr>
              <a:t>Team Members :</a:t>
            </a:r>
            <a:endParaRPr sz="2000" dirty="0">
              <a:solidFill>
                <a:schemeClr val="accent1"/>
              </a:solidFill>
              <a:latin typeface="Roboto Slab"/>
              <a:ea typeface="Roboto Slab"/>
              <a:cs typeface="Roboto Slab"/>
              <a:sym typeface="Roboto Slab"/>
            </a:endParaRPr>
          </a:p>
          <a:p>
            <a:pPr marL="457200" lvl="0" indent="-355600" algn="l" rtl="0">
              <a:spcBef>
                <a:spcPts val="600"/>
              </a:spcBef>
              <a:spcAft>
                <a:spcPts val="0"/>
              </a:spcAft>
              <a:buClr>
                <a:schemeClr val="accent1"/>
              </a:buClr>
              <a:buSzPts val="2000"/>
              <a:buFont typeface="Roboto Slab"/>
              <a:buChar char="◎"/>
            </a:pPr>
            <a:r>
              <a:rPr lang="en" sz="2000" dirty="0">
                <a:solidFill>
                  <a:schemeClr val="accent1"/>
                </a:solidFill>
                <a:latin typeface="Roboto Slab"/>
                <a:ea typeface="Roboto Slab"/>
                <a:cs typeface="Roboto Slab"/>
                <a:sym typeface="Roboto Slab"/>
              </a:rPr>
              <a:t>Vinnakota Sashank</a:t>
            </a:r>
            <a:endParaRPr sz="2000" dirty="0">
              <a:solidFill>
                <a:schemeClr val="accent1"/>
              </a:solidFill>
              <a:latin typeface="Roboto Slab"/>
              <a:ea typeface="Roboto Slab"/>
              <a:cs typeface="Roboto Slab"/>
              <a:sym typeface="Roboto Slab"/>
            </a:endParaRPr>
          </a:p>
          <a:p>
            <a:pPr marL="457200" lvl="0" indent="-355600" algn="l" rtl="0">
              <a:spcBef>
                <a:spcPts val="0"/>
              </a:spcBef>
              <a:spcAft>
                <a:spcPts val="0"/>
              </a:spcAft>
              <a:buClr>
                <a:schemeClr val="accent1"/>
              </a:buClr>
              <a:buSzPts val="2000"/>
              <a:buFont typeface="Roboto Slab"/>
              <a:buChar char="◎"/>
            </a:pPr>
            <a:r>
              <a:rPr lang="en" sz="2000" dirty="0">
                <a:solidFill>
                  <a:schemeClr val="accent1"/>
                </a:solidFill>
                <a:latin typeface="Roboto Slab"/>
                <a:ea typeface="Roboto Slab"/>
                <a:cs typeface="Roboto Slab"/>
                <a:sym typeface="Roboto Slab"/>
              </a:rPr>
              <a:t>Sankalamaddi Sadwik Reddy</a:t>
            </a:r>
            <a:endParaRPr sz="2000" dirty="0">
              <a:solidFill>
                <a:schemeClr val="accent1"/>
              </a:solidFill>
              <a:latin typeface="Roboto Slab"/>
              <a:ea typeface="Roboto Slab"/>
              <a:cs typeface="Roboto Slab"/>
              <a:sym typeface="Roboto Slab"/>
            </a:endParaRPr>
          </a:p>
        </p:txBody>
      </p:sp>
      <p:pic>
        <p:nvPicPr>
          <p:cNvPr id="79" name="Google Shape;79;p13"/>
          <p:cNvPicPr preferRelativeResize="0"/>
          <p:nvPr/>
        </p:nvPicPr>
        <p:blipFill rotWithShape="1">
          <a:blip r:embed="rId3">
            <a:alphaModFix/>
          </a:blip>
          <a:srcRect t="20021" b="27082"/>
          <a:stretch/>
        </p:blipFill>
        <p:spPr>
          <a:xfrm>
            <a:off x="916050" y="273089"/>
            <a:ext cx="1090826" cy="10257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595650" y="3353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85" name="Google Shape;85;p14"/>
          <p:cNvSpPr txBox="1">
            <a:spLocks noGrp="1"/>
          </p:cNvSpPr>
          <p:nvPr>
            <p:ph type="body" idx="1"/>
          </p:nvPr>
        </p:nvSpPr>
        <p:spPr>
          <a:xfrm>
            <a:off x="786150" y="1261700"/>
            <a:ext cx="7571700" cy="3573600"/>
          </a:xfrm>
          <a:prstGeom prst="rect">
            <a:avLst/>
          </a:prstGeom>
        </p:spPr>
        <p:txBody>
          <a:bodyPr spcFirstLastPara="1" wrap="square" lIns="91425" tIns="91425" rIns="91425" bIns="91425" anchor="t" anchorCtr="0">
            <a:noAutofit/>
          </a:bodyPr>
          <a:lstStyle/>
          <a:p>
            <a:pPr marL="457200" marR="0" lvl="0" indent="-330200" algn="l" rtl="0">
              <a:lnSpc>
                <a:spcPct val="100000"/>
              </a:lnSpc>
              <a:spcBef>
                <a:spcPts val="600"/>
              </a:spcBef>
              <a:spcAft>
                <a:spcPts val="0"/>
              </a:spcAft>
              <a:buClr>
                <a:schemeClr val="dk1"/>
              </a:buClr>
              <a:buSzPts val="1600"/>
              <a:buChar char="◎"/>
            </a:pPr>
            <a:r>
              <a:rPr lang="en" sz="2000"/>
              <a:t>Abstract</a:t>
            </a:r>
            <a:endParaRPr sz="2000"/>
          </a:p>
          <a:p>
            <a:pPr marL="457200" marR="0" lvl="0" indent="-330200" algn="l" rtl="0">
              <a:lnSpc>
                <a:spcPct val="100000"/>
              </a:lnSpc>
              <a:spcBef>
                <a:spcPts val="0"/>
              </a:spcBef>
              <a:spcAft>
                <a:spcPts val="0"/>
              </a:spcAft>
              <a:buClr>
                <a:schemeClr val="dk1"/>
              </a:buClr>
              <a:buSzPts val="1600"/>
              <a:buChar char="◎"/>
            </a:pPr>
            <a:r>
              <a:rPr lang="en" sz="2000"/>
              <a:t>Introduction</a:t>
            </a:r>
            <a:endParaRPr sz="2000"/>
          </a:p>
          <a:p>
            <a:pPr marL="457200" marR="0" lvl="0" indent="-330200" algn="l" rtl="0">
              <a:lnSpc>
                <a:spcPct val="100000"/>
              </a:lnSpc>
              <a:spcBef>
                <a:spcPts val="0"/>
              </a:spcBef>
              <a:spcAft>
                <a:spcPts val="0"/>
              </a:spcAft>
              <a:buClr>
                <a:schemeClr val="dk1"/>
              </a:buClr>
              <a:buSzPts val="1600"/>
              <a:buChar char="◎"/>
            </a:pPr>
            <a:r>
              <a:rPr lang="en" sz="2000"/>
              <a:t>Problem statement</a:t>
            </a:r>
            <a:endParaRPr sz="2000"/>
          </a:p>
          <a:p>
            <a:pPr marL="457200" marR="0" lvl="0" indent="-330200" algn="l" rtl="0">
              <a:lnSpc>
                <a:spcPct val="100000"/>
              </a:lnSpc>
              <a:spcBef>
                <a:spcPts val="0"/>
              </a:spcBef>
              <a:spcAft>
                <a:spcPts val="0"/>
              </a:spcAft>
              <a:buClr>
                <a:schemeClr val="dk1"/>
              </a:buClr>
              <a:buSzPts val="1600"/>
              <a:buChar char="◎"/>
            </a:pPr>
            <a:r>
              <a:rPr lang="en" sz="2000"/>
              <a:t>Technical details</a:t>
            </a:r>
            <a:endParaRPr sz="2000"/>
          </a:p>
          <a:p>
            <a:pPr marL="457200" marR="0" lvl="0" indent="-330200" algn="l" rtl="0">
              <a:lnSpc>
                <a:spcPct val="100000"/>
              </a:lnSpc>
              <a:spcBef>
                <a:spcPts val="0"/>
              </a:spcBef>
              <a:spcAft>
                <a:spcPts val="0"/>
              </a:spcAft>
              <a:buClr>
                <a:schemeClr val="dk1"/>
              </a:buClr>
              <a:buSzPts val="1600"/>
              <a:buChar char="◎"/>
            </a:pPr>
            <a:r>
              <a:rPr lang="en" sz="2000"/>
              <a:t>System Design</a:t>
            </a:r>
            <a:endParaRPr sz="2000"/>
          </a:p>
          <a:p>
            <a:pPr marL="457200" marR="0" lvl="0" indent="-330200" algn="l" rtl="0">
              <a:lnSpc>
                <a:spcPct val="100000"/>
              </a:lnSpc>
              <a:spcBef>
                <a:spcPts val="0"/>
              </a:spcBef>
              <a:spcAft>
                <a:spcPts val="0"/>
              </a:spcAft>
              <a:buClr>
                <a:schemeClr val="dk1"/>
              </a:buClr>
              <a:buSzPts val="1600"/>
              <a:buChar char="◎"/>
            </a:pPr>
            <a:r>
              <a:rPr lang="en" sz="2000"/>
              <a:t>Conclusion</a:t>
            </a:r>
            <a:endParaRPr sz="2000"/>
          </a:p>
          <a:p>
            <a:pPr marL="457200" marR="0" lvl="0" indent="-330200" algn="l" rtl="0">
              <a:lnSpc>
                <a:spcPct val="100000"/>
              </a:lnSpc>
              <a:spcBef>
                <a:spcPts val="0"/>
              </a:spcBef>
              <a:spcAft>
                <a:spcPts val="0"/>
              </a:spcAft>
              <a:buClr>
                <a:schemeClr val="dk1"/>
              </a:buClr>
              <a:buSzPts val="1600"/>
              <a:buChar char="◎"/>
            </a:pPr>
            <a:r>
              <a:rPr lang="en" sz="2000"/>
              <a:t>References</a:t>
            </a:r>
            <a:endParaRPr sz="2000"/>
          </a:p>
          <a:p>
            <a:pPr marL="0" marR="0" lvl="0" indent="0" algn="l" rtl="0">
              <a:lnSpc>
                <a:spcPct val="100000"/>
              </a:lnSpc>
              <a:spcBef>
                <a:spcPts val="600"/>
              </a:spcBef>
              <a:spcAft>
                <a:spcPts val="0"/>
              </a:spcAft>
              <a:buNone/>
            </a:pPr>
            <a:endParaRPr sz="2000">
              <a:solidFill>
                <a:schemeClr val="accent1"/>
              </a:solidFill>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332667" y="166871"/>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Abstract</a:t>
            </a:r>
            <a:endParaRPr dirty="0"/>
          </a:p>
        </p:txBody>
      </p:sp>
      <p:sp>
        <p:nvSpPr>
          <p:cNvPr id="91" name="Google Shape;91;p15"/>
          <p:cNvSpPr txBox="1">
            <a:spLocks noGrp="1"/>
          </p:cNvSpPr>
          <p:nvPr>
            <p:ph type="body" idx="1"/>
          </p:nvPr>
        </p:nvSpPr>
        <p:spPr>
          <a:xfrm>
            <a:off x="156116" y="877229"/>
            <a:ext cx="8891239" cy="966439"/>
          </a:xfrm>
          <a:prstGeom prst="rect">
            <a:avLst/>
          </a:prstGeom>
        </p:spPr>
        <p:txBody>
          <a:bodyPr spcFirstLastPara="1" wrap="square" lIns="91425" tIns="91425" rIns="91425" bIns="91425" anchor="t" anchorCtr="0">
            <a:noAutofit/>
          </a:bodyPr>
          <a:lstStyle/>
          <a:p>
            <a:pPr marL="127000" indent="0">
              <a:buSzPts val="1600"/>
              <a:buNone/>
            </a:pPr>
            <a:r>
              <a:rPr lang="en-US" i="1" dirty="0"/>
              <a:t>"Wealth isn't just about making money; it's about understanding it before it's gone."</a:t>
            </a:r>
            <a:endParaRPr lang="en-US" sz="1800" dirty="0"/>
          </a:p>
        </p:txBody>
      </p:sp>
      <p:pic>
        <p:nvPicPr>
          <p:cNvPr id="4" name="Picture 3">
            <a:extLst>
              <a:ext uri="{FF2B5EF4-FFF2-40B4-BE49-F238E27FC236}">
                <a16:creationId xmlns:a16="http://schemas.microsoft.com/office/drawing/2014/main" id="{213FB9C2-B92A-8FD2-308A-7208C87E71B0}"/>
              </a:ext>
            </a:extLst>
          </p:cNvPr>
          <p:cNvPicPr>
            <a:picLocks noChangeAspect="1"/>
          </p:cNvPicPr>
          <p:nvPr/>
        </p:nvPicPr>
        <p:blipFill>
          <a:blip r:embed="rId3"/>
          <a:stretch>
            <a:fillRect/>
          </a:stretch>
        </p:blipFill>
        <p:spPr>
          <a:xfrm>
            <a:off x="5122125" y="2098755"/>
            <a:ext cx="3902927" cy="2279029"/>
          </a:xfrm>
          <a:prstGeom prst="rect">
            <a:avLst/>
          </a:prstGeom>
        </p:spPr>
      </p:pic>
      <p:sp>
        <p:nvSpPr>
          <p:cNvPr id="6" name="TextBox 5">
            <a:extLst>
              <a:ext uri="{FF2B5EF4-FFF2-40B4-BE49-F238E27FC236}">
                <a16:creationId xmlns:a16="http://schemas.microsoft.com/office/drawing/2014/main" id="{5D72BCFD-1BF9-DA51-4D50-C611DA134BFC}"/>
              </a:ext>
            </a:extLst>
          </p:cNvPr>
          <p:cNvSpPr txBox="1"/>
          <p:nvPr/>
        </p:nvSpPr>
        <p:spPr>
          <a:xfrm>
            <a:off x="170985" y="2044388"/>
            <a:ext cx="4854497" cy="2637710"/>
          </a:xfrm>
          <a:prstGeom prst="rect">
            <a:avLst/>
          </a:prstGeom>
          <a:noFill/>
        </p:spPr>
        <p:txBody>
          <a:bodyPr wrap="square" rtlCol="0">
            <a:spAutoFit/>
          </a:bodyPr>
          <a:lstStyle/>
          <a:p>
            <a:pPr>
              <a:lnSpc>
                <a:spcPct val="150000"/>
              </a:lnSpc>
            </a:pPr>
            <a:r>
              <a:rPr lang="en-US" dirty="0"/>
              <a:t>FinSage is an AI-powered "Personal CFO" that transforms static raw transactions into dynamic, actionable financial intelligence. Using Agentic AI, predictive forecasting, and scenario simulations, it allows users to query their finances in natural language. By automatically generating tailored visual analytics, proactive alerts, and tax optimizations, FinSage bridges the gap between historical tracking and future-focused wealth management.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496218" y="122266"/>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 </a:t>
            </a:r>
            <a:endParaRPr dirty="0"/>
          </a:p>
        </p:txBody>
      </p:sp>
      <p:sp>
        <p:nvSpPr>
          <p:cNvPr id="97" name="Google Shape;97;p16"/>
          <p:cNvSpPr txBox="1">
            <a:spLocks noGrp="1"/>
          </p:cNvSpPr>
          <p:nvPr>
            <p:ph type="body" idx="1"/>
          </p:nvPr>
        </p:nvSpPr>
        <p:spPr>
          <a:xfrm>
            <a:off x="319668" y="988741"/>
            <a:ext cx="8601308" cy="3846559"/>
          </a:xfrm>
          <a:prstGeom prst="rect">
            <a:avLst/>
          </a:prstGeom>
        </p:spPr>
        <p:txBody>
          <a:bodyPr spcFirstLastPara="1" wrap="square" lIns="91425" tIns="91425" rIns="91425" bIns="91425" anchor="t" anchorCtr="0">
            <a:noAutofit/>
          </a:bodyPr>
          <a:lstStyle/>
          <a:p>
            <a:pPr marL="76200" indent="0">
              <a:buNone/>
            </a:pPr>
            <a:r>
              <a:rPr lang="en-US" b="1" i="1" spc="-150" dirty="0"/>
              <a:t>Why do we use 21st-century AI to write emails, but 20th-century spreadsheets to plan our life savings?</a:t>
            </a:r>
          </a:p>
          <a:p>
            <a:pPr marL="742950" indent="-285750">
              <a:buClr>
                <a:schemeClr val="accent1">
                  <a:lumMod val="60000"/>
                  <a:lumOff val="40000"/>
                </a:schemeClr>
              </a:buClr>
              <a:buFont typeface="Wingdings" panose="05000000000000000000" pitchFamily="2" charset="2"/>
              <a:buChar char="§"/>
            </a:pPr>
            <a:r>
              <a:rPr lang="en-US" sz="1600" b="1" dirty="0"/>
              <a:t>The Problem:</a:t>
            </a:r>
            <a:r>
              <a:rPr lang="en-US" sz="1600" dirty="0"/>
              <a:t> Traditional personal finance apps are entirely backward-looking—they merely track historical spending without answering complex questions or predicting future outcomes.</a:t>
            </a:r>
            <a:endParaRPr lang="en-US" sz="1100" dirty="0"/>
          </a:p>
          <a:p>
            <a:pPr marL="742950" indent="-285750">
              <a:buClr>
                <a:schemeClr val="accent1">
                  <a:lumMod val="60000"/>
                  <a:lumOff val="40000"/>
                </a:schemeClr>
              </a:buClr>
              <a:buFont typeface="Wingdings" panose="05000000000000000000" pitchFamily="2" charset="2"/>
              <a:buChar char="§"/>
            </a:pPr>
            <a:r>
              <a:rPr lang="en-US" sz="1600" dirty="0"/>
              <a:t> </a:t>
            </a:r>
            <a:r>
              <a:rPr lang="en-US" sz="1600" b="1" dirty="0"/>
              <a:t>Data Overload:</a:t>
            </a:r>
            <a:r>
              <a:rPr lang="en-US" sz="1600" dirty="0"/>
              <a:t> The rapid rise of high-volume digital payments (like UPI) leaves users drowning in transaction data but starved for actionable insights.</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The Planning Gap:</a:t>
            </a:r>
            <a:r>
              <a:rPr lang="en-US" sz="1600" dirty="0"/>
              <a:t> Everyday users lack accessible tools for advanced scenario planning (e.g., buying a house), localized tax optimization, and proactive financial monitoring.</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Our Solution:</a:t>
            </a:r>
            <a:r>
              <a:rPr lang="en-US" sz="1600" dirty="0"/>
              <a:t> FinSage is an Agentic AI platform designed to act as a 24/7 “Personal CFO.”</a:t>
            </a:r>
            <a:endParaRPr lang="en-US" sz="1100" dirty="0"/>
          </a:p>
          <a:p>
            <a:pPr marL="742950" indent="-285750">
              <a:buClr>
                <a:schemeClr val="accent1">
                  <a:lumMod val="60000"/>
                  <a:lumOff val="40000"/>
                </a:schemeClr>
              </a:buClr>
              <a:buFont typeface="Wingdings" panose="05000000000000000000" pitchFamily="2" charset="2"/>
              <a:buChar char="§"/>
            </a:pPr>
            <a:r>
              <a:rPr lang="en-US" sz="1600" b="1" dirty="0"/>
              <a:t>The Innovation:</a:t>
            </a:r>
            <a:r>
              <a:rPr lang="en-US" sz="1600" dirty="0"/>
              <a:t> We transform static, raw financial data into natural language conversations, auto-generating dynamic charts, proactive alerts, and predictive forecasts.</a:t>
            </a:r>
            <a:endParaRPr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146814" y="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statement</a:t>
            </a:r>
            <a:endParaRPr dirty="0"/>
          </a:p>
        </p:txBody>
      </p:sp>
      <p:sp>
        <p:nvSpPr>
          <p:cNvPr id="2" name="TextBox 1">
            <a:extLst>
              <a:ext uri="{FF2B5EF4-FFF2-40B4-BE49-F238E27FC236}">
                <a16:creationId xmlns:a16="http://schemas.microsoft.com/office/drawing/2014/main" id="{A7EB6527-8029-BAD6-A663-79FF0D2B3C03}"/>
              </a:ext>
            </a:extLst>
          </p:cNvPr>
          <p:cNvSpPr txBox="1"/>
          <p:nvPr/>
        </p:nvSpPr>
        <p:spPr>
          <a:xfrm>
            <a:off x="379140" y="758281"/>
            <a:ext cx="8474927" cy="129266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The Core Problem:</a:t>
            </a:r>
            <a:r>
              <a:rPr lang="en-US" sz="1600" dirty="0"/>
              <a:t> </a:t>
            </a:r>
            <a:r>
              <a:rPr lang="en-US" sz="1600" dirty="0">
                <a:solidFill>
                  <a:schemeClr val="bg1"/>
                </a:solidFill>
              </a:rPr>
              <a:t> 13+ billion monthly UPI transactions create massive personal financial data, yet users lack actionable intelligence.</a:t>
            </a:r>
            <a:endParaRPr lang="en-US" sz="1600" dirty="0"/>
          </a:p>
          <a:p>
            <a:r>
              <a:rPr lang="en-US" sz="1600" dirty="0"/>
              <a:t>Money management is entirely reactionary - users know </a:t>
            </a:r>
            <a:r>
              <a:rPr lang="en-US" sz="1600" i="1" dirty="0"/>
              <a:t>where</a:t>
            </a:r>
            <a:r>
              <a:rPr lang="en-US" sz="1600" dirty="0"/>
              <a:t> their money went, but cannot predict or simulate future wealth.</a:t>
            </a:r>
            <a:br>
              <a:rPr lang="en-US" sz="1050" dirty="0"/>
            </a:br>
            <a:endParaRPr lang="en-IN" dirty="0"/>
          </a:p>
        </p:txBody>
      </p:sp>
      <p:sp>
        <p:nvSpPr>
          <p:cNvPr id="3" name="TextBox 2">
            <a:extLst>
              <a:ext uri="{FF2B5EF4-FFF2-40B4-BE49-F238E27FC236}">
                <a16:creationId xmlns:a16="http://schemas.microsoft.com/office/drawing/2014/main" id="{4DBA1654-D1F5-1438-5A22-4348031B6711}"/>
              </a:ext>
            </a:extLst>
          </p:cNvPr>
          <p:cNvSpPr txBox="1"/>
          <p:nvPr/>
        </p:nvSpPr>
        <p:spPr>
          <a:xfrm>
            <a:off x="4007005" y="2304584"/>
            <a:ext cx="4847063" cy="104644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Target Audience:</a:t>
            </a:r>
            <a:r>
              <a:rPr lang="en-US" sz="1600" dirty="0"/>
              <a:t> Indian working professionals and millennials navigating high-frequency spending, tax planning (80C/80D), and long-term goals.</a:t>
            </a:r>
            <a:br>
              <a:rPr lang="en-US" sz="1050" dirty="0"/>
            </a:br>
            <a:endParaRPr lang="en-IN" dirty="0"/>
          </a:p>
        </p:txBody>
      </p:sp>
      <p:sp>
        <p:nvSpPr>
          <p:cNvPr id="4" name="TextBox 3">
            <a:extLst>
              <a:ext uri="{FF2B5EF4-FFF2-40B4-BE49-F238E27FC236}">
                <a16:creationId xmlns:a16="http://schemas.microsoft.com/office/drawing/2014/main" id="{DD70CE3F-09FB-86D8-CD35-7F184F67C627}"/>
              </a:ext>
            </a:extLst>
          </p:cNvPr>
          <p:cNvSpPr txBox="1"/>
          <p:nvPr/>
        </p:nvSpPr>
        <p:spPr>
          <a:xfrm>
            <a:off x="4051607" y="3538654"/>
            <a:ext cx="4824763" cy="107721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t>• </a:t>
            </a:r>
            <a:r>
              <a:rPr lang="en-US" sz="1600" b="1" dirty="0"/>
              <a:t>The Human Reality:</a:t>
            </a:r>
            <a:r>
              <a:rPr lang="en-US" sz="1600" dirty="0"/>
              <a:t> A fragmented financial landscape leaves the majority of young professionals experiencing chronic financial anxiety.</a:t>
            </a:r>
            <a:endParaRPr lang="en-IN" sz="1600" dirty="0"/>
          </a:p>
        </p:txBody>
      </p:sp>
      <p:pic>
        <p:nvPicPr>
          <p:cNvPr id="2050" name="Picture 2">
            <a:extLst>
              <a:ext uri="{FF2B5EF4-FFF2-40B4-BE49-F238E27FC236}">
                <a16:creationId xmlns:a16="http://schemas.microsoft.com/office/drawing/2014/main" id="{9F15F674-B701-7BD9-9C36-3FEA1676D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91" y="2386361"/>
            <a:ext cx="3702670" cy="26168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C3110-CAD1-4C2E-81F9-5F957FD0EE2F}"/>
              </a:ext>
            </a:extLst>
          </p:cNvPr>
          <p:cNvSpPr txBox="1"/>
          <p:nvPr/>
        </p:nvSpPr>
        <p:spPr>
          <a:xfrm>
            <a:off x="0" y="349406"/>
            <a:ext cx="4750420" cy="369332"/>
          </a:xfrm>
          <a:prstGeom prst="rect">
            <a:avLst/>
          </a:prstGeom>
          <a:noFill/>
        </p:spPr>
        <p:txBody>
          <a:bodyPr wrap="square" rtlCol="0">
            <a:spAutoFit/>
          </a:bodyPr>
          <a:lstStyle/>
          <a:p>
            <a:r>
              <a:rPr lang="en" sz="1800" b="1" i="1" dirty="0"/>
              <a:t>Existing solutions and their drawbacks</a:t>
            </a:r>
            <a:endParaRPr lang="en-IN" sz="1800" b="1" i="1" dirty="0"/>
          </a:p>
        </p:txBody>
      </p:sp>
      <p:pic>
        <p:nvPicPr>
          <p:cNvPr id="3074" name="Picture 2">
            <a:extLst>
              <a:ext uri="{FF2B5EF4-FFF2-40B4-BE49-F238E27FC236}">
                <a16:creationId xmlns:a16="http://schemas.microsoft.com/office/drawing/2014/main" id="{02A9DFDF-E7FC-77E5-E191-0095F759C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8020"/>
            <a:ext cx="9144000" cy="4361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92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139378" y="122316"/>
            <a:ext cx="8179432" cy="494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Technical Details</a:t>
            </a:r>
            <a:endParaRPr dirty="0"/>
          </a:p>
        </p:txBody>
      </p:sp>
      <p:sp>
        <p:nvSpPr>
          <p:cNvPr id="8" name="TextBox 7">
            <a:extLst>
              <a:ext uri="{FF2B5EF4-FFF2-40B4-BE49-F238E27FC236}">
                <a16:creationId xmlns:a16="http://schemas.microsoft.com/office/drawing/2014/main" id="{7E3E59D7-FB44-A2D4-2AD5-9D78B443C2A9}"/>
              </a:ext>
            </a:extLst>
          </p:cNvPr>
          <p:cNvSpPr txBox="1"/>
          <p:nvPr/>
        </p:nvSpPr>
        <p:spPr>
          <a:xfrm>
            <a:off x="5731728" y="1128725"/>
            <a:ext cx="3077736" cy="3893374"/>
          </a:xfrm>
          <a:prstGeom prst="rect">
            <a:avLst/>
          </a:prstGeom>
          <a:noFill/>
        </p:spPr>
        <p:txBody>
          <a:bodyPr wrap="square" rtlCol="0">
            <a:spAutoFit/>
          </a:bodyPr>
          <a:lstStyle/>
          <a:p>
            <a:r>
              <a:rPr lang="en-IN" sz="1300" b="1" dirty="0"/>
              <a:t>Frontend</a:t>
            </a:r>
            <a:br>
              <a:rPr lang="en-IN" sz="1300" dirty="0"/>
            </a:br>
            <a:r>
              <a:rPr lang="en-IN" sz="1300" dirty="0"/>
              <a:t>• React 18 + Vite</a:t>
            </a:r>
            <a:br>
              <a:rPr lang="en-IN" sz="1300" dirty="0"/>
            </a:br>
            <a:r>
              <a:rPr lang="en-IN" sz="1300" dirty="0"/>
              <a:t>• Tailwind CSS</a:t>
            </a:r>
            <a:br>
              <a:rPr lang="en-IN" sz="1300" dirty="0"/>
            </a:br>
            <a:r>
              <a:rPr lang="en-IN" sz="1300" dirty="0"/>
              <a:t>• Recharts (Data Visualization)</a:t>
            </a:r>
          </a:p>
          <a:p>
            <a:r>
              <a:rPr lang="en-IN" sz="1300" b="1" dirty="0"/>
              <a:t>Backend</a:t>
            </a:r>
            <a:br>
              <a:rPr lang="en-IN" sz="1300" dirty="0"/>
            </a:br>
            <a:r>
              <a:rPr lang="en-IN" sz="1300" dirty="0"/>
              <a:t>• Python FastAPI</a:t>
            </a:r>
            <a:br>
              <a:rPr lang="en-IN" sz="1300" dirty="0"/>
            </a:br>
            <a:r>
              <a:rPr lang="en-IN" sz="1300" dirty="0"/>
              <a:t>• SQL Model ORM</a:t>
            </a:r>
            <a:br>
              <a:rPr lang="en-IN" sz="1300" dirty="0"/>
            </a:br>
            <a:r>
              <a:rPr lang="en-IN" sz="1300" dirty="0"/>
              <a:t>• SQLite Database</a:t>
            </a:r>
          </a:p>
          <a:p>
            <a:r>
              <a:rPr lang="en-IN" sz="1300" b="1" dirty="0"/>
              <a:t>AI &amp; Analytics</a:t>
            </a:r>
            <a:br>
              <a:rPr lang="en-IN" sz="1300" dirty="0"/>
            </a:br>
            <a:r>
              <a:rPr lang="en-IN" sz="1300" dirty="0"/>
              <a:t>• Google Gemini 2.0 Flash (LLM)</a:t>
            </a:r>
            <a:br>
              <a:rPr lang="en-IN" sz="1300" dirty="0"/>
            </a:br>
            <a:r>
              <a:rPr lang="en-IN" sz="1300" dirty="0"/>
              <a:t>• Prophet (Time Series Forecasting)</a:t>
            </a:r>
            <a:br>
              <a:rPr lang="en-IN" sz="1300" dirty="0"/>
            </a:br>
            <a:r>
              <a:rPr lang="en-IN" sz="1300" dirty="0"/>
              <a:t>• NumPy Monte Carlo Simulation</a:t>
            </a:r>
            <a:br>
              <a:rPr lang="en-IN" sz="1300" dirty="0"/>
            </a:br>
            <a:r>
              <a:rPr lang="en-IN" sz="1300" dirty="0"/>
              <a:t>• SciPy Anomaly Detection</a:t>
            </a:r>
          </a:p>
          <a:p>
            <a:r>
              <a:rPr lang="en-IN" sz="1300" b="1" dirty="0"/>
              <a:t>Infrastructure</a:t>
            </a:r>
            <a:br>
              <a:rPr lang="en-IN" sz="1300" dirty="0"/>
            </a:br>
            <a:r>
              <a:rPr lang="en-IN" sz="1300" dirty="0"/>
              <a:t>• WebSockets (Real-time Alerts)</a:t>
            </a:r>
            <a:br>
              <a:rPr lang="en-IN" sz="1300" dirty="0"/>
            </a:br>
            <a:r>
              <a:rPr lang="en-IN" sz="1300" dirty="0"/>
              <a:t>• JWT Authentication</a:t>
            </a:r>
            <a:br>
              <a:rPr lang="en-IN" sz="1300" dirty="0"/>
            </a:br>
            <a:r>
              <a:rPr lang="en-IN" sz="1300" dirty="0"/>
              <a:t>• Docker Deployment</a:t>
            </a:r>
            <a:br>
              <a:rPr lang="en-IN" sz="1300" dirty="0"/>
            </a:br>
            <a:r>
              <a:rPr lang="en-IN" sz="1300" dirty="0"/>
              <a:t>• Render Hosting</a:t>
            </a:r>
            <a:br>
              <a:rPr lang="en-IN" sz="1300" dirty="0"/>
            </a:br>
            <a:r>
              <a:rPr lang="en-IN" sz="1300" dirty="0"/>
              <a:t>• GitHub Version Control</a:t>
            </a:r>
          </a:p>
        </p:txBody>
      </p:sp>
      <p:sp>
        <p:nvSpPr>
          <p:cNvPr id="9" name="TextBox 8">
            <a:extLst>
              <a:ext uri="{FF2B5EF4-FFF2-40B4-BE49-F238E27FC236}">
                <a16:creationId xmlns:a16="http://schemas.microsoft.com/office/drawing/2014/main" id="{9B721EDE-AFAF-F27E-6F1B-FF617D20BB65}"/>
              </a:ext>
            </a:extLst>
          </p:cNvPr>
          <p:cNvSpPr txBox="1"/>
          <p:nvPr/>
        </p:nvSpPr>
        <p:spPr>
          <a:xfrm>
            <a:off x="5605346" y="721112"/>
            <a:ext cx="3003395" cy="312234"/>
          </a:xfrm>
          <a:prstGeom prst="rect">
            <a:avLst/>
          </a:prstGeom>
          <a:noFill/>
        </p:spPr>
        <p:txBody>
          <a:bodyPr wrap="square" rtlCol="0">
            <a:spAutoFit/>
          </a:bodyPr>
          <a:lstStyle/>
          <a:p>
            <a:r>
              <a:rPr lang="en-IN" b="1" dirty="0">
                <a:solidFill>
                  <a:srgbClr val="FF0000"/>
                </a:solidFill>
              </a:rPr>
              <a:t>Technology Stack:</a:t>
            </a:r>
          </a:p>
        </p:txBody>
      </p:sp>
      <p:sp>
        <p:nvSpPr>
          <p:cNvPr id="10" name="TextBox 9">
            <a:extLst>
              <a:ext uri="{FF2B5EF4-FFF2-40B4-BE49-F238E27FC236}">
                <a16:creationId xmlns:a16="http://schemas.microsoft.com/office/drawing/2014/main" id="{A1A28B88-E62F-FD3A-F4F4-F7BAE467F0A8}"/>
              </a:ext>
            </a:extLst>
          </p:cNvPr>
          <p:cNvSpPr txBox="1"/>
          <p:nvPr/>
        </p:nvSpPr>
        <p:spPr>
          <a:xfrm>
            <a:off x="141248" y="780586"/>
            <a:ext cx="5144429" cy="3836115"/>
          </a:xfrm>
          <a:prstGeom prst="rect">
            <a:avLst/>
          </a:prstGeom>
          <a:noFill/>
        </p:spPr>
        <p:txBody>
          <a:bodyPr wrap="square" rtlCol="0">
            <a:spAutoFit/>
          </a:bodyPr>
          <a:lstStyle/>
          <a:p>
            <a:pPr>
              <a:lnSpc>
                <a:spcPct val="125000"/>
              </a:lnSpc>
            </a:pPr>
            <a:r>
              <a:rPr lang="en-US" dirty="0"/>
              <a:t>• </a:t>
            </a:r>
            <a:r>
              <a:rPr lang="en-US" b="1" dirty="0"/>
              <a:t>Agentic Function Calling:</a:t>
            </a:r>
            <a:r>
              <a:rPr lang="en-US" dirty="0"/>
              <a:t> Maps prompts to 10+ strict typed data functions, entirely preventing LLM hallucination.</a:t>
            </a:r>
          </a:p>
          <a:p>
            <a:pPr>
              <a:lnSpc>
                <a:spcPct val="125000"/>
              </a:lnSpc>
            </a:pPr>
            <a:br>
              <a:rPr lang="en-US" dirty="0"/>
            </a:br>
            <a:r>
              <a:rPr lang="en-US" dirty="0"/>
              <a:t>• </a:t>
            </a:r>
            <a:r>
              <a:rPr lang="en-US" b="1" dirty="0"/>
              <a:t>Dynamic Multimodal Output:</a:t>
            </a:r>
            <a:r>
              <a:rPr lang="en-US" dirty="0"/>
              <a:t> AI logically evaluates queries to auto-generate and render the exact, correct visual chart type rather than just text.</a:t>
            </a:r>
          </a:p>
          <a:p>
            <a:pPr>
              <a:lnSpc>
                <a:spcPct val="125000"/>
              </a:lnSpc>
            </a:pPr>
            <a:br>
              <a:rPr lang="en-US" dirty="0"/>
            </a:br>
            <a:r>
              <a:rPr lang="en-US" dirty="0"/>
              <a:t>• </a:t>
            </a:r>
            <a:r>
              <a:rPr lang="en-US" b="1" dirty="0"/>
              <a:t>Proactive Anomaly Detection:</a:t>
            </a:r>
            <a:r>
              <a:rPr lang="en-US" dirty="0"/>
              <a:t> Runs algorithmic background checks to organically identify and warn users of unprompted spending spikes.</a:t>
            </a:r>
          </a:p>
          <a:p>
            <a:pPr>
              <a:lnSpc>
                <a:spcPct val="125000"/>
              </a:lnSpc>
            </a:pPr>
            <a:br>
              <a:rPr lang="en-US" dirty="0"/>
            </a:br>
            <a:r>
              <a:rPr lang="en-US" dirty="0"/>
              <a:t>• </a:t>
            </a:r>
            <a:r>
              <a:rPr lang="en-US" b="1" dirty="0"/>
              <a:t>Probabilistic Forecasting:</a:t>
            </a:r>
            <a:r>
              <a:rPr lang="en-US" dirty="0"/>
              <a:t> Runs 1,000+ Monte Carlo probability simulations for precise "what-if" long-term wealth projections and goal plotting.</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9037-DE32-CDE2-3B78-CEFE7599F2C1}"/>
              </a:ext>
            </a:extLst>
          </p:cNvPr>
          <p:cNvSpPr>
            <a:spLocks noGrp="1"/>
          </p:cNvSpPr>
          <p:nvPr>
            <p:ph type="title"/>
          </p:nvPr>
        </p:nvSpPr>
        <p:spPr>
          <a:xfrm>
            <a:off x="109642" y="99964"/>
            <a:ext cx="7571700" cy="702600"/>
          </a:xfrm>
        </p:spPr>
        <p:txBody>
          <a:bodyPr/>
          <a:lstStyle/>
          <a:p>
            <a:r>
              <a:rPr lang="en" dirty="0"/>
              <a:t>System Design</a:t>
            </a:r>
            <a:endParaRPr lang="en-IN" dirty="0"/>
          </a:p>
        </p:txBody>
      </p:sp>
      <p:sp>
        <p:nvSpPr>
          <p:cNvPr id="7" name="AutoShape 6" descr="FinSage AI flow: User Input to AI Engine to Actionable Output">
            <a:extLst>
              <a:ext uri="{FF2B5EF4-FFF2-40B4-BE49-F238E27FC236}">
                <a16:creationId xmlns:a16="http://schemas.microsoft.com/office/drawing/2014/main" id="{82896CD7-3D38-A1EC-1F34-074A031418D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EE3D9DA-6BFD-B886-6BA3-339E4243E7BF}"/>
              </a:ext>
            </a:extLst>
          </p:cNvPr>
          <p:cNvPicPr>
            <a:picLocks noChangeAspect="1"/>
          </p:cNvPicPr>
          <p:nvPr/>
        </p:nvPicPr>
        <p:blipFill>
          <a:blip r:embed="rId2"/>
          <a:stretch>
            <a:fillRect/>
          </a:stretch>
        </p:blipFill>
        <p:spPr>
          <a:xfrm>
            <a:off x="3159512" y="825189"/>
            <a:ext cx="5925016" cy="4261203"/>
          </a:xfrm>
          <a:prstGeom prst="rect">
            <a:avLst/>
          </a:prstGeom>
        </p:spPr>
      </p:pic>
      <p:sp>
        <p:nvSpPr>
          <p:cNvPr id="9" name="TextBox 8">
            <a:extLst>
              <a:ext uri="{FF2B5EF4-FFF2-40B4-BE49-F238E27FC236}">
                <a16:creationId xmlns:a16="http://schemas.microsoft.com/office/drawing/2014/main" id="{424F1F0C-ECBF-F7F1-23AE-1469A530C94E}"/>
              </a:ext>
            </a:extLst>
          </p:cNvPr>
          <p:cNvSpPr txBox="1"/>
          <p:nvPr/>
        </p:nvSpPr>
        <p:spPr>
          <a:xfrm>
            <a:off x="163551" y="951571"/>
            <a:ext cx="2854712" cy="3970318"/>
          </a:xfrm>
          <a:prstGeom prst="rect">
            <a:avLst/>
          </a:prstGeom>
          <a:noFill/>
        </p:spPr>
        <p:txBody>
          <a:bodyPr wrap="square" rtlCol="0">
            <a:spAutoFit/>
          </a:bodyPr>
          <a:lstStyle/>
          <a:p>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Presentation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React + Tailwind UI delivering unified Chat, Dynamic Dashboards (Recharts), and a Proactive Alert </a:t>
            </a:r>
            <a:r>
              <a:rPr lang="en-IN" sz="1200" dirty="0" err="1">
                <a:latin typeface="Times New Roman" panose="02020603050405020304" pitchFamily="18" charset="0"/>
                <a:cs typeface="Times New Roman" panose="02020603050405020304" pitchFamily="18" charset="0"/>
              </a:rPr>
              <a:t>Center</a:t>
            </a:r>
            <a:r>
              <a:rPr lang="en-IN" sz="1200" dirty="0">
                <a:latin typeface="Times New Roman" panose="02020603050405020304" pitchFamily="18" charset="0"/>
                <a:cs typeface="Times New Roman" panose="02020603050405020304" pitchFamily="18" charset="0"/>
              </a:rPr>
              <a:t>.</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API Gateway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FastAPI backend handling secure JWT authentication, </a:t>
            </a:r>
            <a:r>
              <a:rPr lang="en-IN" sz="1200" dirty="0" err="1">
                <a:latin typeface="Times New Roman" panose="02020603050405020304" pitchFamily="18" charset="0"/>
                <a:cs typeface="Times New Roman" panose="02020603050405020304" pitchFamily="18" charset="0"/>
              </a:rPr>
              <a:t>websocket</a:t>
            </a:r>
            <a:r>
              <a:rPr lang="en-IN" sz="1200" dirty="0">
                <a:latin typeface="Times New Roman" panose="02020603050405020304" pitchFamily="18" charset="0"/>
                <a:cs typeface="Times New Roman" panose="02020603050405020304" pitchFamily="18" charset="0"/>
              </a:rPr>
              <a:t> streaming, and REST routing.</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AI Orchestration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Gemini API strictly utilizing Function Calling to translate NLP into precise, structured SQL tool commands—preventing LLM hallucination.</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Intelligence Modules</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Specialized execution pipelines featuring Prophet (</a:t>
            </a:r>
            <a:r>
              <a:rPr lang="en-IN" sz="1200" dirty="0" err="1">
                <a:latin typeface="Times New Roman" panose="02020603050405020304" pitchFamily="18" charset="0"/>
                <a:cs typeface="Times New Roman" panose="02020603050405020304" pitchFamily="18" charset="0"/>
              </a:rPr>
              <a:t>TimeSeries</a:t>
            </a:r>
            <a:r>
              <a:rPr lang="en-IN" sz="1200" dirty="0">
                <a:latin typeface="Times New Roman" panose="02020603050405020304" pitchFamily="18" charset="0"/>
                <a:cs typeface="Times New Roman" panose="02020603050405020304" pitchFamily="18" charset="0"/>
              </a:rPr>
              <a:t> Forecasting), Monte Carlo (Simulation), and Statistical Anomaly testing (z-score).</a:t>
            </a:r>
            <a:br>
              <a:rPr lang="en-IN" sz="1200" i="1"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 </a:t>
            </a:r>
            <a:r>
              <a:rPr lang="en-IN" sz="1200" b="1" i="1" dirty="0">
                <a:latin typeface="Times New Roman" panose="02020603050405020304" pitchFamily="18" charset="0"/>
                <a:cs typeface="Times New Roman" panose="02020603050405020304" pitchFamily="18" charset="0"/>
              </a:rPr>
              <a:t>Data &amp; Storage Layer</a:t>
            </a:r>
            <a:r>
              <a:rPr lang="en-IN" sz="1200" i="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Localized SQLite database processing 2,400+ rows of synthetic financial data prioritizing zero-egress localization laws</a:t>
            </a:r>
            <a:r>
              <a:rPr lang="en-IN" sz="1200" i="1"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8BD6ED0-D269-76B9-7552-85C8CF086137}"/>
              </a:ext>
            </a:extLst>
          </p:cNvPr>
          <p:cNvSpPr txBox="1"/>
          <p:nvPr/>
        </p:nvSpPr>
        <p:spPr>
          <a:xfrm>
            <a:off x="4118517" y="341971"/>
            <a:ext cx="4148254" cy="400110"/>
          </a:xfrm>
          <a:prstGeom prst="rect">
            <a:avLst/>
          </a:prstGeom>
          <a:noFill/>
        </p:spPr>
        <p:txBody>
          <a:bodyPr wrap="square" rtlCol="0">
            <a:spAutoFit/>
          </a:bodyPr>
          <a:lstStyle/>
          <a:p>
            <a:r>
              <a:rPr lang="en-US" sz="2000" b="1" dirty="0">
                <a:solidFill>
                  <a:schemeClr val="accent6">
                    <a:lumMod val="75000"/>
                  </a:schemeClr>
                </a:solidFill>
              </a:rPr>
              <a:t>System Architecture Diagram</a:t>
            </a:r>
            <a:endParaRPr lang="en-IN" sz="2000" b="1" dirty="0">
              <a:solidFill>
                <a:schemeClr val="accent6">
                  <a:lumMod val="75000"/>
                </a:schemeClr>
              </a:solidFill>
            </a:endParaRPr>
          </a:p>
        </p:txBody>
      </p:sp>
    </p:spTree>
    <p:extLst>
      <p:ext uri="{BB962C8B-B14F-4D97-AF65-F5344CB8AC3E}">
        <p14:creationId xmlns:p14="http://schemas.microsoft.com/office/powerpoint/2010/main" val="90260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FA5F7-C24C-4A10-39AD-6C527ADF9DAB}"/>
              </a:ext>
            </a:extLst>
          </p:cNvPr>
          <p:cNvSpPr>
            <a:spLocks noGrp="1"/>
          </p:cNvSpPr>
          <p:nvPr>
            <p:ph type="title"/>
          </p:nvPr>
        </p:nvSpPr>
        <p:spPr>
          <a:xfrm>
            <a:off x="0" y="77662"/>
            <a:ext cx="1538868" cy="702600"/>
          </a:xfrm>
        </p:spPr>
        <p:txBody>
          <a:bodyPr/>
          <a:lstStyle/>
          <a:p>
            <a:r>
              <a:rPr lang="en-US" dirty="0"/>
              <a:t>Prototype</a:t>
            </a:r>
            <a:endParaRPr lang="en-IN" dirty="0"/>
          </a:p>
        </p:txBody>
      </p:sp>
      <p:pic>
        <p:nvPicPr>
          <p:cNvPr id="5" name="Picture 4">
            <a:extLst>
              <a:ext uri="{FF2B5EF4-FFF2-40B4-BE49-F238E27FC236}">
                <a16:creationId xmlns:a16="http://schemas.microsoft.com/office/drawing/2014/main" id="{F3A390C2-B74E-4B32-95F6-443174529BEB}"/>
              </a:ext>
            </a:extLst>
          </p:cNvPr>
          <p:cNvPicPr>
            <a:picLocks noChangeAspect="1"/>
          </p:cNvPicPr>
          <p:nvPr/>
        </p:nvPicPr>
        <p:blipFill>
          <a:blip r:embed="rId2"/>
          <a:stretch>
            <a:fillRect/>
          </a:stretch>
        </p:blipFill>
        <p:spPr>
          <a:xfrm>
            <a:off x="67940" y="746085"/>
            <a:ext cx="4159124" cy="2235008"/>
          </a:xfrm>
          <a:prstGeom prst="rect">
            <a:avLst/>
          </a:prstGeom>
        </p:spPr>
      </p:pic>
      <p:pic>
        <p:nvPicPr>
          <p:cNvPr id="7" name="Picture 6">
            <a:extLst>
              <a:ext uri="{FF2B5EF4-FFF2-40B4-BE49-F238E27FC236}">
                <a16:creationId xmlns:a16="http://schemas.microsoft.com/office/drawing/2014/main" id="{510C0946-5CFA-958E-68CC-DF1AEBD3F77E}"/>
              </a:ext>
            </a:extLst>
          </p:cNvPr>
          <p:cNvPicPr>
            <a:picLocks noChangeAspect="1"/>
          </p:cNvPicPr>
          <p:nvPr/>
        </p:nvPicPr>
        <p:blipFill>
          <a:blip r:embed="rId3"/>
          <a:stretch>
            <a:fillRect/>
          </a:stretch>
        </p:blipFill>
        <p:spPr>
          <a:xfrm>
            <a:off x="4676079" y="847493"/>
            <a:ext cx="4393580" cy="2085516"/>
          </a:xfrm>
          <a:prstGeom prst="rect">
            <a:avLst/>
          </a:prstGeom>
        </p:spPr>
      </p:pic>
      <p:pic>
        <p:nvPicPr>
          <p:cNvPr id="9" name="Picture 8">
            <a:extLst>
              <a:ext uri="{FF2B5EF4-FFF2-40B4-BE49-F238E27FC236}">
                <a16:creationId xmlns:a16="http://schemas.microsoft.com/office/drawing/2014/main" id="{E7E77B47-3332-AD7A-2359-72A4699A458F}"/>
              </a:ext>
            </a:extLst>
          </p:cNvPr>
          <p:cNvPicPr>
            <a:picLocks noChangeAspect="1"/>
          </p:cNvPicPr>
          <p:nvPr/>
        </p:nvPicPr>
        <p:blipFill>
          <a:blip r:embed="rId4"/>
          <a:stretch>
            <a:fillRect/>
          </a:stretch>
        </p:blipFill>
        <p:spPr>
          <a:xfrm>
            <a:off x="4928840" y="3153435"/>
            <a:ext cx="4215160" cy="1990065"/>
          </a:xfrm>
          <a:prstGeom prst="rect">
            <a:avLst/>
          </a:prstGeom>
        </p:spPr>
      </p:pic>
      <p:pic>
        <p:nvPicPr>
          <p:cNvPr id="11" name="Picture 10">
            <a:extLst>
              <a:ext uri="{FF2B5EF4-FFF2-40B4-BE49-F238E27FC236}">
                <a16:creationId xmlns:a16="http://schemas.microsoft.com/office/drawing/2014/main" id="{F0472B4E-66C6-0757-C698-75784B7B49AF}"/>
              </a:ext>
            </a:extLst>
          </p:cNvPr>
          <p:cNvPicPr>
            <a:picLocks noChangeAspect="1"/>
          </p:cNvPicPr>
          <p:nvPr/>
        </p:nvPicPr>
        <p:blipFill>
          <a:blip r:embed="rId5"/>
          <a:stretch>
            <a:fillRect/>
          </a:stretch>
        </p:blipFill>
        <p:spPr>
          <a:xfrm>
            <a:off x="0" y="3049858"/>
            <a:ext cx="4401015" cy="2093642"/>
          </a:xfrm>
          <a:prstGeom prst="rect">
            <a:avLst/>
          </a:prstGeom>
        </p:spPr>
      </p:pic>
      <p:sp>
        <p:nvSpPr>
          <p:cNvPr id="3" name="TextBox 2">
            <a:extLst>
              <a:ext uri="{FF2B5EF4-FFF2-40B4-BE49-F238E27FC236}">
                <a16:creationId xmlns:a16="http://schemas.microsoft.com/office/drawing/2014/main" id="{2A4C8B6A-E111-62FA-B5AB-B4B2DEF917A1}"/>
              </a:ext>
            </a:extLst>
          </p:cNvPr>
          <p:cNvSpPr txBox="1"/>
          <p:nvPr/>
        </p:nvSpPr>
        <p:spPr>
          <a:xfrm>
            <a:off x="2951356" y="237893"/>
            <a:ext cx="3925229" cy="307777"/>
          </a:xfrm>
          <a:prstGeom prst="rect">
            <a:avLst/>
          </a:prstGeom>
          <a:noFill/>
        </p:spPr>
        <p:txBody>
          <a:bodyPr wrap="square" rtlCol="0">
            <a:spAutoFit/>
          </a:bodyPr>
          <a:lstStyle/>
          <a:p>
            <a:r>
              <a:rPr lang="en-IN" dirty="0"/>
              <a:t>Link: </a:t>
            </a:r>
            <a:r>
              <a:rPr lang="en-IN" dirty="0">
                <a:hlinkClick r:id="rId6"/>
              </a:rPr>
              <a:t>https://finsage-theta.vercel.app/</a:t>
            </a:r>
            <a:endParaRPr lang="en-IN" dirty="0"/>
          </a:p>
        </p:txBody>
      </p:sp>
    </p:spTree>
    <p:extLst>
      <p:ext uri="{BB962C8B-B14F-4D97-AF65-F5344CB8AC3E}">
        <p14:creationId xmlns:p14="http://schemas.microsoft.com/office/powerpoint/2010/main" val="2163331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3F3FA8-4008-5C37-FD6A-2494EBDDE491}"/>
              </a:ext>
            </a:extLst>
          </p:cNvPr>
          <p:cNvSpPr>
            <a:spLocks noGrp="1"/>
          </p:cNvSpPr>
          <p:nvPr>
            <p:ph type="body" idx="1"/>
          </p:nvPr>
        </p:nvSpPr>
        <p:spPr>
          <a:xfrm>
            <a:off x="2354755" y="1926739"/>
            <a:ext cx="6722338" cy="3573600"/>
          </a:xfrm>
        </p:spPr>
        <p:txBody>
          <a:bodyPr/>
          <a:lstStyle/>
          <a:p>
            <a:pPr marL="76200" indent="0">
              <a:buNone/>
            </a:pPr>
            <a:r>
              <a:rPr lang="en-IN" sz="1600" b="1" dirty="0"/>
              <a:t>Backend Initialization</a:t>
            </a:r>
            <a:r>
              <a:rPr lang="en-IN" sz="1600" dirty="0"/>
              <a:t> - Setup FastAPI &amp; SQLite.</a:t>
            </a:r>
          </a:p>
          <a:p>
            <a:pPr marL="76200" indent="0">
              <a:buNone/>
            </a:pPr>
            <a:r>
              <a:rPr lang="en-IN" sz="1600" b="1" dirty="0"/>
              <a:t>Synthetic Data Load</a:t>
            </a:r>
            <a:r>
              <a:rPr lang="en-IN" sz="1600" dirty="0"/>
              <a:t> - Generate 2,400+ transaction rows.</a:t>
            </a:r>
          </a:p>
          <a:p>
            <a:pPr marL="76200" indent="0">
              <a:buNone/>
            </a:pPr>
            <a:r>
              <a:rPr lang="en-IN" sz="1600" b="1" dirty="0"/>
              <a:t>Core Tool Chain</a:t>
            </a:r>
            <a:r>
              <a:rPr lang="en-IN" sz="1600" dirty="0"/>
              <a:t> - Build first 5 data queries.</a:t>
            </a:r>
          </a:p>
          <a:p>
            <a:pPr marL="76200" indent="0">
              <a:buNone/>
            </a:pPr>
            <a:r>
              <a:rPr lang="en-IN" sz="1600" b="1" dirty="0"/>
              <a:t>Gemini AI Integration</a:t>
            </a:r>
            <a:r>
              <a:rPr lang="en-IN" sz="1600" dirty="0"/>
              <a:t> - Enable LLM function calling.</a:t>
            </a:r>
          </a:p>
          <a:p>
            <a:pPr marL="76200" indent="0">
              <a:buNone/>
            </a:pPr>
            <a:r>
              <a:rPr lang="en-IN" sz="1600" b="1" dirty="0"/>
              <a:t>Dynamic Chart Hookup</a:t>
            </a:r>
            <a:r>
              <a:rPr lang="en-IN" sz="1600" dirty="0"/>
              <a:t> - Connect AI logic to Recharts.</a:t>
            </a:r>
          </a:p>
          <a:p>
            <a:pPr marL="76200" indent="0">
              <a:buNone/>
            </a:pPr>
            <a:r>
              <a:rPr lang="en-IN" sz="1600" b="1" dirty="0"/>
              <a:t>Prophet Engine Integration</a:t>
            </a:r>
            <a:r>
              <a:rPr lang="en-IN" sz="1600" dirty="0"/>
              <a:t> - Setup time-series forecasting.</a:t>
            </a:r>
          </a:p>
          <a:p>
            <a:pPr marL="76200" indent="0">
              <a:buNone/>
            </a:pPr>
            <a:r>
              <a:rPr lang="en-IN" sz="1600" b="1" dirty="0"/>
              <a:t>Monte Carlo Engine</a:t>
            </a:r>
            <a:r>
              <a:rPr lang="en-IN" sz="1600" dirty="0"/>
              <a:t> - Code probability-based scenario simulators.</a:t>
            </a:r>
          </a:p>
          <a:p>
            <a:pPr marL="76200" indent="0">
              <a:buNone/>
            </a:pPr>
            <a:r>
              <a:rPr lang="en-IN" sz="1600" b="1" dirty="0"/>
              <a:t>Anomaly Alerts System</a:t>
            </a:r>
            <a:r>
              <a:rPr lang="en-IN" sz="1600" dirty="0"/>
              <a:t> - Finalize Z-score proactive background triggers.</a:t>
            </a:r>
          </a:p>
          <a:p>
            <a:pPr marL="76200" indent="0">
              <a:buNone/>
            </a:pPr>
            <a:r>
              <a:rPr lang="en-IN" sz="1600" b="1" dirty="0"/>
              <a:t>India-Specific Features</a:t>
            </a:r>
            <a:r>
              <a:rPr lang="en-IN" sz="1600" dirty="0"/>
              <a:t> - Add Tax, EPF, and UPI logic.</a:t>
            </a:r>
          </a:p>
          <a:p>
            <a:endParaRPr lang="en-IN" sz="1600" dirty="0"/>
          </a:p>
        </p:txBody>
      </p:sp>
      <p:sp>
        <p:nvSpPr>
          <p:cNvPr id="4" name="TextBox 3">
            <a:extLst>
              <a:ext uri="{FF2B5EF4-FFF2-40B4-BE49-F238E27FC236}">
                <a16:creationId xmlns:a16="http://schemas.microsoft.com/office/drawing/2014/main" id="{320CBBFC-9460-A2E4-0C1F-CF18B34D970C}"/>
              </a:ext>
            </a:extLst>
          </p:cNvPr>
          <p:cNvSpPr txBox="1"/>
          <p:nvPr/>
        </p:nvSpPr>
        <p:spPr>
          <a:xfrm>
            <a:off x="327102" y="2914186"/>
            <a:ext cx="1776761" cy="307777"/>
          </a:xfrm>
          <a:prstGeom prst="rect">
            <a:avLst/>
          </a:prstGeom>
          <a:noFill/>
        </p:spPr>
        <p:txBody>
          <a:bodyPr wrap="square" rtlCol="0">
            <a:spAutoFit/>
          </a:bodyPr>
          <a:lstStyle/>
          <a:p>
            <a:r>
              <a:rPr lang="en-US" b="1" dirty="0"/>
              <a:t>Remaining Steps:</a:t>
            </a:r>
            <a:endParaRPr lang="en-IN" b="1" dirty="0"/>
          </a:p>
        </p:txBody>
      </p:sp>
      <p:sp>
        <p:nvSpPr>
          <p:cNvPr id="5" name="TextBox 4">
            <a:extLst>
              <a:ext uri="{FF2B5EF4-FFF2-40B4-BE49-F238E27FC236}">
                <a16:creationId xmlns:a16="http://schemas.microsoft.com/office/drawing/2014/main" id="{B8D427DB-E06E-77B3-93E2-492D73264318}"/>
              </a:ext>
            </a:extLst>
          </p:cNvPr>
          <p:cNvSpPr txBox="1"/>
          <p:nvPr/>
        </p:nvSpPr>
        <p:spPr>
          <a:xfrm>
            <a:off x="148683" y="446049"/>
            <a:ext cx="2549912" cy="523220"/>
          </a:xfrm>
          <a:prstGeom prst="rect">
            <a:avLst/>
          </a:prstGeom>
          <a:noFill/>
        </p:spPr>
        <p:txBody>
          <a:bodyPr wrap="square" rtlCol="0">
            <a:spAutoFit/>
          </a:bodyPr>
          <a:lstStyle/>
          <a:p>
            <a:r>
              <a:rPr lang="en-US" b="1" dirty="0"/>
              <a:t>What happened so far in the prototype:</a:t>
            </a:r>
            <a:endParaRPr lang="en-IN" dirty="0"/>
          </a:p>
        </p:txBody>
      </p:sp>
      <p:sp>
        <p:nvSpPr>
          <p:cNvPr id="6" name="TextBox 5">
            <a:extLst>
              <a:ext uri="{FF2B5EF4-FFF2-40B4-BE49-F238E27FC236}">
                <a16:creationId xmlns:a16="http://schemas.microsoft.com/office/drawing/2014/main" id="{05814D3B-B444-83E9-AACD-F7DD639C8788}"/>
              </a:ext>
            </a:extLst>
          </p:cNvPr>
          <p:cNvSpPr txBox="1"/>
          <p:nvPr/>
        </p:nvSpPr>
        <p:spPr>
          <a:xfrm>
            <a:off x="2646556" y="193288"/>
            <a:ext cx="6088566" cy="1169551"/>
          </a:xfrm>
          <a:prstGeom prst="rect">
            <a:avLst/>
          </a:prstGeom>
          <a:noFill/>
        </p:spPr>
        <p:txBody>
          <a:bodyPr wrap="square" rtlCol="0">
            <a:spAutoFit/>
          </a:bodyPr>
          <a:lstStyle/>
          <a:p>
            <a:r>
              <a:rPr lang="en-US" dirty="0"/>
              <a:t>We have successfully scaffolded and deployed the core frontend UI (React, Vite, Tailwind), creating the foundational routing for the Dashboard, Chat, Alerts, Simulator, and Tax pages. The project possesses a cohesive visual design, but currently relies largely on static mocked data and layouts.</a:t>
            </a:r>
            <a:endParaRPr lang="en-IN" dirty="0"/>
          </a:p>
        </p:txBody>
      </p:sp>
    </p:spTree>
    <p:extLst>
      <p:ext uri="{BB962C8B-B14F-4D97-AF65-F5344CB8AC3E}">
        <p14:creationId xmlns:p14="http://schemas.microsoft.com/office/powerpoint/2010/main" val="1038833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0" y="55359"/>
            <a:ext cx="2484874"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Business Prospect</a:t>
            </a:r>
            <a:endParaRPr dirty="0"/>
          </a:p>
        </p:txBody>
      </p:sp>
      <p:sp>
        <p:nvSpPr>
          <p:cNvPr id="118" name="Google Shape;118;p19"/>
          <p:cNvSpPr txBox="1">
            <a:spLocks noGrp="1"/>
          </p:cNvSpPr>
          <p:nvPr>
            <p:ph type="body" idx="1"/>
          </p:nvPr>
        </p:nvSpPr>
        <p:spPr>
          <a:xfrm>
            <a:off x="1" y="807715"/>
            <a:ext cx="2215376" cy="3905534"/>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t" anchorCtr="0">
            <a:noAutofit/>
          </a:bodyPr>
          <a:lstStyle/>
          <a:p>
            <a:pPr marL="76200" indent="0">
              <a:buNone/>
            </a:pPr>
            <a:r>
              <a:rPr lang="en-IN" sz="2000" b="1" dirty="0">
                <a:solidFill>
                  <a:schemeClr val="accent6">
                    <a:lumMod val="75000"/>
                  </a:schemeClr>
                </a:solidFill>
              </a:rPr>
              <a:t>Startup Vision</a:t>
            </a:r>
          </a:p>
          <a:p>
            <a:pPr marL="76200" indent="0">
              <a:buNone/>
            </a:pPr>
            <a:r>
              <a:rPr lang="en-IN" sz="1200" b="1" dirty="0"/>
              <a:t>FinSage — Your AI CFO</a:t>
            </a:r>
            <a:endParaRPr lang="en-IN" sz="1200" dirty="0"/>
          </a:p>
          <a:p>
            <a:pPr marL="76200" indent="0">
              <a:buNone/>
            </a:pPr>
            <a:r>
              <a:rPr lang="en-IN" sz="1600" dirty="0"/>
              <a:t>• AI-powered personal financial intelligence platform</a:t>
            </a:r>
            <a:br>
              <a:rPr lang="en-IN" sz="1600" dirty="0"/>
            </a:br>
            <a:r>
              <a:rPr lang="en-IN" sz="1600" dirty="0"/>
              <a:t>• Conversational interface for natural financial queries</a:t>
            </a:r>
            <a:br>
              <a:rPr lang="en-IN" sz="1600" dirty="0"/>
            </a:br>
            <a:r>
              <a:rPr lang="en-IN" sz="1600" dirty="0"/>
              <a:t>• Spending analysis</a:t>
            </a:r>
            <a:br>
              <a:rPr lang="en-IN" sz="1600" dirty="0"/>
            </a:br>
            <a:r>
              <a:rPr lang="en-IN" sz="1600" dirty="0"/>
              <a:t>• Financial forecasting</a:t>
            </a:r>
            <a:br>
              <a:rPr lang="en-IN" sz="1600" dirty="0"/>
            </a:br>
            <a:r>
              <a:rPr lang="en-IN" sz="1600" dirty="0"/>
              <a:t>• Tax optimization</a:t>
            </a:r>
            <a:br>
              <a:rPr lang="en-IN" sz="1600" dirty="0"/>
            </a:br>
            <a:r>
              <a:rPr lang="en-IN" sz="1600" dirty="0"/>
              <a:t>• Investment insights</a:t>
            </a:r>
          </a:p>
          <a:p>
            <a:pPr marL="127000" marR="0" lvl="0" indent="0" algn="l" rtl="0">
              <a:lnSpc>
                <a:spcPct val="100000"/>
              </a:lnSpc>
              <a:spcBef>
                <a:spcPts val="600"/>
              </a:spcBef>
              <a:spcAft>
                <a:spcPts val="0"/>
              </a:spcAft>
              <a:buSzPts val="1600"/>
              <a:buNone/>
            </a:pPr>
            <a:endParaRPr sz="1200" dirty="0"/>
          </a:p>
        </p:txBody>
      </p:sp>
      <p:sp>
        <p:nvSpPr>
          <p:cNvPr id="2" name="TextBox 1">
            <a:extLst>
              <a:ext uri="{FF2B5EF4-FFF2-40B4-BE49-F238E27FC236}">
                <a16:creationId xmlns:a16="http://schemas.microsoft.com/office/drawing/2014/main" id="{A724C57E-1E92-6138-8E7B-618CB0150504}"/>
              </a:ext>
            </a:extLst>
          </p:cNvPr>
          <p:cNvSpPr txBox="1"/>
          <p:nvPr/>
        </p:nvSpPr>
        <p:spPr>
          <a:xfrm>
            <a:off x="2319456" y="1217932"/>
            <a:ext cx="2587081" cy="320087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IN" sz="2000" b="1" dirty="0">
                <a:solidFill>
                  <a:schemeClr val="accent6">
                    <a:lumMod val="75000"/>
                  </a:schemeClr>
                </a:solidFill>
              </a:rPr>
              <a:t>Market Opportunity</a:t>
            </a:r>
          </a:p>
          <a:p>
            <a:endParaRPr lang="en-IN" dirty="0"/>
          </a:p>
          <a:p>
            <a:r>
              <a:rPr lang="en-IN" dirty="0"/>
              <a:t>• Account Aggregator Framework</a:t>
            </a:r>
            <a:br>
              <a:rPr lang="en-IN" dirty="0"/>
            </a:br>
            <a:r>
              <a:rPr lang="en-IN" dirty="0"/>
              <a:t>• RBI-regulated financial data sharing ecosystem</a:t>
            </a:r>
            <a:br>
              <a:rPr lang="en-IN" dirty="0"/>
            </a:br>
            <a:r>
              <a:rPr lang="en-IN" dirty="0"/>
              <a:t>• 400M+ monthly users generating real-time transaction data</a:t>
            </a:r>
            <a:br>
              <a:rPr lang="en-IN" dirty="0"/>
            </a:br>
            <a:r>
              <a:rPr lang="en-IN" dirty="0"/>
              <a:t>• Only 27% of adults financially literate</a:t>
            </a:r>
          </a:p>
          <a:p>
            <a:r>
              <a:rPr lang="en-IN" dirty="0"/>
              <a:t>• No dominant AI finance assistant in India</a:t>
            </a:r>
          </a:p>
          <a:p>
            <a:endParaRPr lang="en-IN" dirty="0"/>
          </a:p>
        </p:txBody>
      </p:sp>
      <p:sp>
        <p:nvSpPr>
          <p:cNvPr id="3" name="TextBox 2">
            <a:extLst>
              <a:ext uri="{FF2B5EF4-FFF2-40B4-BE49-F238E27FC236}">
                <a16:creationId xmlns:a16="http://schemas.microsoft.com/office/drawing/2014/main" id="{D148C489-94A9-8983-7AAA-53940BE49FC1}"/>
              </a:ext>
            </a:extLst>
          </p:cNvPr>
          <p:cNvSpPr txBox="1"/>
          <p:nvPr/>
        </p:nvSpPr>
        <p:spPr>
          <a:xfrm>
            <a:off x="5062654" y="2304585"/>
            <a:ext cx="3984702" cy="276998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a:solidFill>
                  <a:schemeClr val="accent6">
                    <a:lumMod val="75000"/>
                  </a:schemeClr>
                </a:solidFill>
              </a:rPr>
              <a:t>Target Users</a:t>
            </a:r>
          </a:p>
          <a:p>
            <a:r>
              <a:rPr lang="en-US" b="1" dirty="0"/>
              <a:t>Primary Users</a:t>
            </a:r>
            <a:endParaRPr lang="en-US" dirty="0"/>
          </a:p>
          <a:p>
            <a:r>
              <a:rPr lang="en-US" dirty="0"/>
              <a:t>• Young professionals (Age 22–35)</a:t>
            </a:r>
            <a:br>
              <a:rPr lang="en-US" dirty="0"/>
            </a:br>
            <a:r>
              <a:rPr lang="en-US" dirty="0"/>
              <a:t>• Income ₹5–25 LPA</a:t>
            </a:r>
            <a:br>
              <a:rPr lang="en-US" dirty="0"/>
            </a:br>
            <a:r>
              <a:rPr lang="en-US" dirty="0"/>
              <a:t>• Managing first salaries, loans, and investments</a:t>
            </a:r>
          </a:p>
          <a:p>
            <a:r>
              <a:rPr lang="en-US" b="1" dirty="0"/>
              <a:t>Secondary Users</a:t>
            </a:r>
            <a:endParaRPr lang="en-US" dirty="0"/>
          </a:p>
          <a:p>
            <a:r>
              <a:rPr lang="en-US" dirty="0"/>
              <a:t>• Dual-income households (Age 30–45)</a:t>
            </a:r>
            <a:br>
              <a:rPr lang="en-US" dirty="0"/>
            </a:br>
            <a:r>
              <a:rPr lang="en-US" dirty="0"/>
              <a:t>• Multiple income streams and financial goals</a:t>
            </a:r>
            <a:br>
              <a:rPr lang="en-US" dirty="0"/>
            </a:br>
            <a:r>
              <a:rPr lang="en-US" b="1" dirty="0"/>
              <a:t>Tertiary Users</a:t>
            </a:r>
            <a:endParaRPr lang="en-US" dirty="0"/>
          </a:p>
          <a:p>
            <a:r>
              <a:rPr lang="en-US" dirty="0"/>
              <a:t>• Freelancers &amp; gig workers</a:t>
            </a:r>
            <a:br>
              <a:rPr lang="en-US" dirty="0"/>
            </a:br>
            <a:r>
              <a:rPr lang="en-US" dirty="0"/>
              <a:t>• Irregular income and tax complexities</a:t>
            </a:r>
            <a:br>
              <a:rPr lang="en-US" dirty="0"/>
            </a:br>
            <a:r>
              <a:rPr lang="en-US" dirty="0"/>
              <a:t>• Require financial planning and cash-flow info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481113A-D1F8-9792-5411-E1531EE18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127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 </a:t>
            </a:r>
            <a:endParaRPr dirty="0"/>
          </a:p>
        </p:txBody>
      </p:sp>
      <p:sp>
        <p:nvSpPr>
          <p:cNvPr id="124" name="Google Shape;124;p20"/>
          <p:cNvSpPr txBox="1">
            <a:spLocks noGrp="1"/>
          </p:cNvSpPr>
          <p:nvPr>
            <p:ph type="body" idx="1"/>
          </p:nvPr>
        </p:nvSpPr>
        <p:spPr>
          <a:xfrm>
            <a:off x="364273" y="1261700"/>
            <a:ext cx="8526965" cy="3573600"/>
          </a:xfrm>
          <a:prstGeom prst="rect">
            <a:avLst/>
          </a:prstGeom>
        </p:spPr>
        <p:txBody>
          <a:bodyPr spcFirstLastPara="1" wrap="square" lIns="91425" tIns="91425" rIns="91425" bIns="91425" anchor="t" anchorCtr="0">
            <a:noAutofit/>
          </a:bodyPr>
          <a:lstStyle/>
          <a:p>
            <a:pPr marL="127000" indent="0">
              <a:lnSpc>
                <a:spcPct val="150000"/>
              </a:lnSpc>
              <a:buSzPts val="1600"/>
              <a:buNone/>
            </a:pPr>
            <a:r>
              <a:rPr lang="en-US" sz="1800" dirty="0"/>
              <a:t>FinSage transforms static transaction data into a conversational AI CFO using agentic function calling and predictive modeling. It democratizes wealth management, empowering users to optimize taxes, simulate goals, and receive proactive spending alerts. Future scope includes scaling via India's Account Aggregator API for real-time bank syncing and expanding to B2B enterprise wellness programs. By tackling the UPI data overload, FinSage proves the future of wealth management is intelligently conversing with your money.</a:t>
            </a:r>
            <a:endParaRPr sz="1100" i="1" dirty="0">
              <a:latin typeface="Sitka Subheading Semibold"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533389" y="122267"/>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References </a:t>
            </a:r>
            <a:endParaRPr dirty="0"/>
          </a:p>
        </p:txBody>
      </p:sp>
      <p:sp>
        <p:nvSpPr>
          <p:cNvPr id="130" name="Google Shape;130;p21"/>
          <p:cNvSpPr txBox="1">
            <a:spLocks noGrp="1"/>
          </p:cNvSpPr>
          <p:nvPr>
            <p:ph type="body" idx="1"/>
          </p:nvPr>
        </p:nvSpPr>
        <p:spPr>
          <a:xfrm>
            <a:off x="200722" y="921834"/>
            <a:ext cx="8415454" cy="3836020"/>
          </a:xfrm>
          <a:prstGeom prst="rect">
            <a:avLst/>
          </a:prstGeom>
        </p:spPr>
        <p:txBody>
          <a:bodyPr spcFirstLastPara="1" wrap="square" lIns="91425" tIns="91425" rIns="91425" bIns="91425" anchor="t" anchorCtr="0">
            <a:noAutofit/>
          </a:bodyPr>
          <a:lstStyle/>
          <a:p>
            <a:pPr marL="127000" lvl="0" indent="0">
              <a:lnSpc>
                <a:spcPct val="140000"/>
              </a:lnSpc>
              <a:buSzPts val="1600"/>
              <a:buNone/>
            </a:pPr>
            <a:r>
              <a:rPr lang="en-US" sz="1600" dirty="0"/>
              <a:t>• </a:t>
            </a:r>
            <a:r>
              <a:rPr lang="en-US" sz="1600" b="1" dirty="0"/>
              <a:t>Financial Literacy Data:</a:t>
            </a:r>
            <a:r>
              <a:rPr lang="en-US" sz="1600" dirty="0"/>
              <a:t> S&amp;P Global </a:t>
            </a:r>
            <a:r>
              <a:rPr lang="en-US" sz="1600" dirty="0" err="1"/>
              <a:t>FinLit</a:t>
            </a:r>
            <a:r>
              <a:rPr lang="en-US" sz="1600" dirty="0"/>
              <a:t> Survey. </a:t>
            </a:r>
            <a:r>
              <a:rPr lang="en-US" sz="1600" i="1" dirty="0"/>
              <a:t>Global Financial Literacy Excellence Center (GFLEC)</a:t>
            </a:r>
            <a:r>
              <a:rPr lang="en-US" sz="1600" dirty="0"/>
              <a:t>. </a:t>
            </a:r>
            <a:br>
              <a:rPr lang="en-US" sz="1600" dirty="0"/>
            </a:br>
            <a:r>
              <a:rPr lang="en-US" sz="1600" dirty="0"/>
              <a:t>• </a:t>
            </a:r>
            <a:r>
              <a:rPr lang="en-US" sz="1600" b="1" dirty="0"/>
              <a:t>Data Ingestion Framework:</a:t>
            </a:r>
            <a:r>
              <a:rPr lang="en-US" sz="1600" dirty="0"/>
              <a:t> Reserve Bank of India (RBI). </a:t>
            </a:r>
            <a:r>
              <a:rPr lang="en-US" sz="1600" i="1" dirty="0"/>
              <a:t>Master Direction - Non-Banking Financial Company - Account Aggregator (NBFC-AA) Directive.</a:t>
            </a:r>
            <a:br>
              <a:rPr lang="en-US" sz="1600" dirty="0"/>
            </a:br>
            <a:r>
              <a:rPr lang="en-US" sz="1600" dirty="0"/>
              <a:t>• </a:t>
            </a:r>
            <a:r>
              <a:rPr lang="en-US" sz="1600" b="1" dirty="0"/>
              <a:t>Digital Payments Scope:</a:t>
            </a:r>
            <a:r>
              <a:rPr lang="en-US" sz="1600" dirty="0"/>
              <a:t> National Payments Corporation of India (NPCI). </a:t>
            </a:r>
            <a:r>
              <a:rPr lang="en-US" sz="1600" i="1" dirty="0"/>
              <a:t>UPI Ecosystem Transaction Volumes and Statistics.</a:t>
            </a:r>
            <a:r>
              <a:rPr lang="en-US" sz="1600" dirty="0"/>
              <a:t> </a:t>
            </a:r>
            <a:br>
              <a:rPr lang="en-US" sz="1600" dirty="0"/>
            </a:br>
            <a:r>
              <a:rPr lang="en-US" sz="1600" dirty="0"/>
              <a:t>• </a:t>
            </a:r>
            <a:r>
              <a:rPr lang="en-US" sz="1600" b="1" dirty="0"/>
              <a:t>Tax Optimization Modeling:</a:t>
            </a:r>
            <a:r>
              <a:rPr lang="en-US" sz="1600" dirty="0"/>
              <a:t> Income Tax Department, Government of India. </a:t>
            </a:r>
            <a:r>
              <a:rPr lang="en-US" sz="1600" i="1" dirty="0"/>
              <a:t>Official Directives on Section 80C and 80D Deductions.</a:t>
            </a:r>
            <a:r>
              <a:rPr lang="en-US" sz="1600" dirty="0"/>
              <a:t> </a:t>
            </a:r>
            <a:br>
              <a:rPr lang="en-US" sz="1600" dirty="0"/>
            </a:br>
            <a:r>
              <a:rPr lang="en-US" sz="1600" dirty="0"/>
              <a:t>• </a:t>
            </a:r>
            <a:r>
              <a:rPr lang="en-US" sz="1600" b="1" dirty="0"/>
              <a:t>Provident Fund Projections:</a:t>
            </a:r>
            <a:r>
              <a:rPr lang="en-US" sz="1600" dirty="0"/>
              <a:t> Employees' Provident Fund </a:t>
            </a:r>
            <a:r>
              <a:rPr lang="en-US" sz="1600" dirty="0" err="1"/>
              <a:t>Organisation</a:t>
            </a:r>
            <a:r>
              <a:rPr lang="en-US" sz="1600" dirty="0"/>
              <a:t> (EPFO). </a:t>
            </a:r>
            <a:r>
              <a:rPr lang="en-US" sz="1600" i="1" dirty="0"/>
              <a:t>Current Interest Rate &amp; Contribution Guidelines.</a:t>
            </a:r>
            <a:r>
              <a:rPr lang="en-US" sz="1600" dirty="0"/>
              <a:t> </a:t>
            </a:r>
            <a:endParaRPr sz="1600" dirty="0"/>
          </a:p>
        </p:txBody>
      </p:sp>
    </p:spTree>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1184</Words>
  <Application>Microsoft Office PowerPoint</Application>
  <PresentationFormat>On-screen Show (16:9)</PresentationFormat>
  <Paragraphs>76</Paragraphs>
  <Slides>14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Source Sans Pro</vt:lpstr>
      <vt:lpstr>Wingdings</vt:lpstr>
      <vt:lpstr>Sitka Subheading Semibold</vt:lpstr>
      <vt:lpstr>Roboto Slab</vt:lpstr>
      <vt:lpstr>Times New Roman</vt:lpstr>
      <vt:lpstr>Arial</vt:lpstr>
      <vt:lpstr>Cordelia template</vt:lpstr>
      <vt:lpstr>PowerPoint Presentation</vt:lpstr>
      <vt:lpstr>Agenda</vt:lpstr>
      <vt:lpstr>Abstract</vt:lpstr>
      <vt:lpstr>Introduction </vt:lpstr>
      <vt:lpstr>Problem statement</vt:lpstr>
      <vt:lpstr>PowerPoint Presentation</vt:lpstr>
      <vt:lpstr>Technical Details</vt:lpstr>
      <vt:lpstr>System Design</vt:lpstr>
      <vt:lpstr>Prototype</vt:lpstr>
      <vt:lpstr>PowerPoint Presentation</vt:lpstr>
      <vt:lpstr>Business Prospect</vt:lpstr>
      <vt:lpstr>PowerPoint Presentation</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vinna</dc:creator>
  <cp:lastModifiedBy>vinnakotasashank@gmail.com</cp:lastModifiedBy>
  <cp:revision>11</cp:revision>
  <dcterms:modified xsi:type="dcterms:W3CDTF">2026-03-15T08:31:57Z</dcterms:modified>
</cp:coreProperties>
</file>